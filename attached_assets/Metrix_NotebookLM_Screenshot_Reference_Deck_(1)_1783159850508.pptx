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3" name="Text 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01</a:t>
            </a:r>
            <a:endParaRPr lang="en-US" sz="700" dirty="0"/>
          </a:p>
        </p:txBody>
      </p:sp>
      <p:sp>
        <p:nvSpPr>
          <p:cNvPr id="4" name="Text 2"/>
          <p:cNvSpPr/>
          <p:nvPr/>
        </p:nvSpPr>
        <p:spPr>
          <a:xfrm>
            <a:off x="640080" y="566928"/>
            <a:ext cx="2286000" cy="228600"/>
          </a:xfrm>
          <a:prstGeom prst="rect">
            <a:avLst/>
          </a:prstGeom>
          <a:noFill/>
          <a:ln/>
        </p:spPr>
        <p:txBody>
          <a:bodyPr wrap="square" lIns="0" tIns="0" rIns="0" bIns="0" rtlCol="0" anchor="ctr"/>
          <a:lstStyle/>
          <a:p>
            <a:pPr indent="0" marL="0">
              <a:buNone/>
            </a:pPr>
            <a:r>
              <a:rPr lang="en-US" sz="900" b="1" dirty="0">
                <a:solidFill>
                  <a:srgbClr val="06B6D4"/>
                </a:solidFill>
                <a:latin typeface="Aptos" pitchFamily="34" charset="0"/>
                <a:ea typeface="Aptos" pitchFamily="34" charset="-122"/>
                <a:cs typeface="Aptos" pitchFamily="34" charset="-120"/>
              </a:rPr>
              <a:t>METRIX IAP</a:t>
            </a:r>
            <a:endParaRPr lang="en-US" sz="900" dirty="0"/>
          </a:p>
        </p:txBody>
      </p:sp>
      <p:sp>
        <p:nvSpPr>
          <p:cNvPr id="5" name="Text 3"/>
          <p:cNvSpPr/>
          <p:nvPr/>
        </p:nvSpPr>
        <p:spPr>
          <a:xfrm>
            <a:off x="640080" y="987552"/>
            <a:ext cx="4754880" cy="960120"/>
          </a:xfrm>
          <a:prstGeom prst="rect">
            <a:avLst/>
          </a:prstGeom>
          <a:noFill/>
          <a:ln/>
        </p:spPr>
        <p:txBody>
          <a:bodyPr wrap="square" lIns="0" tIns="0" rIns="0" bIns="0" rtlCol="0" anchor="ctr">
            <a:normAutofit/>
          </a:bodyPr>
          <a:lstStyle/>
          <a:p>
            <a:pPr indent="0" marL="0">
              <a:buNone/>
            </a:pPr>
            <a:r>
              <a:rPr lang="en-US" sz="3000" b="1" dirty="0">
                <a:solidFill>
                  <a:srgbClr val="F6F8FC"/>
                </a:solidFill>
                <a:latin typeface="Aptos Display" pitchFamily="34" charset="0"/>
                <a:ea typeface="Aptos Display" pitchFamily="34" charset="-122"/>
                <a:cs typeface="Aptos Display" pitchFamily="34" charset="-120"/>
              </a:rPr>
              <a:t>YouTube Brief + Screenshot References</a:t>
            </a:r>
            <a:endParaRPr lang="en-US" sz="3000" dirty="0"/>
          </a:p>
        </p:txBody>
      </p:sp>
      <p:sp>
        <p:nvSpPr>
          <p:cNvPr id="6" name="Text 4"/>
          <p:cNvSpPr/>
          <p:nvPr/>
        </p:nvSpPr>
        <p:spPr>
          <a:xfrm>
            <a:off x="658368" y="2148840"/>
            <a:ext cx="4251960" cy="566928"/>
          </a:xfrm>
          <a:prstGeom prst="rect">
            <a:avLst/>
          </a:prstGeom>
          <a:noFill/>
          <a:ln/>
        </p:spPr>
        <p:txBody>
          <a:bodyPr wrap="square" lIns="0" tIns="0" rIns="0" bIns="0" rtlCol="0" anchor="ctr">
            <a:normAutofit/>
          </a:bodyPr>
          <a:lstStyle/>
          <a:p>
            <a:pPr indent="0" marL="0">
              <a:buNone/>
            </a:pPr>
            <a:r>
              <a:rPr lang="en-US" sz="1200" dirty="0">
                <a:solidFill>
                  <a:srgbClr val="C7D0DD"/>
                </a:solidFill>
                <a:latin typeface="Aptos" pitchFamily="34" charset="0"/>
                <a:ea typeface="Aptos" pitchFamily="34" charset="-122"/>
                <a:cs typeface="Aptos" pitchFamily="34" charset="-120"/>
              </a:rPr>
              <a:t>Source deck for NotebookLM. Built to create a high-conviction video for media buyers, strategists, and agency operators.</a:t>
            </a:r>
            <a:endParaRPr lang="en-US" sz="1200" dirty="0"/>
          </a:p>
        </p:txBody>
      </p:sp>
      <p:sp>
        <p:nvSpPr>
          <p:cNvPr id="7" name="Text 5"/>
          <p:cNvSpPr/>
          <p:nvPr/>
        </p:nvSpPr>
        <p:spPr>
          <a:xfrm>
            <a:off x="658368" y="2962656"/>
            <a:ext cx="1188720" cy="219456"/>
          </a:xfrm>
          <a:prstGeom prst="rect">
            <a:avLst/>
          </a:prstGeom>
          <a:solidFill>
            <a:srgbClr val="101A2B"/>
          </a:solidFill>
          <a:ln>
            <a:solidFill>
              <a:srgbClr val="00E5A0">
                <a:alpha val="65000"/>
              </a:srgbClr>
            </a:solidFill>
          </a:ln>
        </p:spPr>
        <p:txBody>
          <a:bodyPr wrap="square" lIns="254" tIns="254" rIns="254" bIns="254" rtlCol="0" anchor="ctr"/>
          <a:lstStyle/>
          <a:p>
            <a:pPr algn="ctr" indent="0" marL="0">
              <a:buNone/>
            </a:pPr>
            <a:r>
              <a:rPr lang="en-US" sz="750" b="1" dirty="0">
                <a:solidFill>
                  <a:srgbClr val="00E5A0"/>
                </a:solidFill>
                <a:latin typeface="Aptos" pitchFamily="34" charset="0"/>
                <a:ea typeface="Aptos" pitchFamily="34" charset="-122"/>
                <a:cs typeface="Aptos" pitchFamily="34" charset="-120"/>
              </a:rPr>
              <a:t>MEDIA BUYERS</a:t>
            </a:r>
            <a:endParaRPr lang="en-US" sz="750" dirty="0"/>
          </a:p>
        </p:txBody>
      </p:sp>
      <p:sp>
        <p:nvSpPr>
          <p:cNvPr id="8" name="Text 6"/>
          <p:cNvSpPr/>
          <p:nvPr/>
        </p:nvSpPr>
        <p:spPr>
          <a:xfrm>
            <a:off x="1975104" y="2962656"/>
            <a:ext cx="1097280" cy="219456"/>
          </a:xfrm>
          <a:prstGeom prst="rect">
            <a:avLst/>
          </a:prstGeom>
          <a:solidFill>
            <a:srgbClr val="101A2B"/>
          </a:solidFill>
          <a:ln>
            <a:solidFill>
              <a:srgbClr val="06B6D4">
                <a:alpha val="65000"/>
              </a:srgbClr>
            </a:solidFill>
          </a:ln>
        </p:spPr>
        <p:txBody>
          <a:bodyPr wrap="square" lIns="254" tIns="254" rIns="254" bIns="254" rtlCol="0" anchor="ctr"/>
          <a:lstStyle/>
          <a:p>
            <a:pPr algn="ctr" indent="0" marL="0">
              <a:buNone/>
            </a:pPr>
            <a:r>
              <a:rPr lang="en-US" sz="750" b="1" dirty="0">
                <a:solidFill>
                  <a:srgbClr val="06B6D4"/>
                </a:solidFill>
                <a:latin typeface="Aptos" pitchFamily="34" charset="0"/>
                <a:ea typeface="Aptos" pitchFamily="34" charset="-122"/>
                <a:cs typeface="Aptos" pitchFamily="34" charset="-120"/>
              </a:rPr>
              <a:t>STRATEGISTS</a:t>
            </a:r>
            <a:endParaRPr lang="en-US" sz="750" dirty="0"/>
          </a:p>
        </p:txBody>
      </p:sp>
      <p:sp>
        <p:nvSpPr>
          <p:cNvPr id="9" name="Text 7"/>
          <p:cNvSpPr/>
          <p:nvPr/>
        </p:nvSpPr>
        <p:spPr>
          <a:xfrm>
            <a:off x="3182112" y="2962656"/>
            <a:ext cx="1508760" cy="219456"/>
          </a:xfrm>
          <a:prstGeom prst="rect">
            <a:avLst/>
          </a:prstGeom>
          <a:solidFill>
            <a:srgbClr val="101A2B"/>
          </a:solidFill>
          <a:ln>
            <a:solidFill>
              <a:srgbClr val="FFBD59">
                <a:alpha val="65000"/>
              </a:srgbClr>
            </a:solidFill>
          </a:ln>
        </p:spPr>
        <p:txBody>
          <a:bodyPr wrap="square" lIns="254" tIns="254" rIns="254" bIns="254" rtlCol="0" anchor="ctr"/>
          <a:lstStyle/>
          <a:p>
            <a:pPr algn="ctr" indent="0" marL="0">
              <a:buNone/>
            </a:pPr>
            <a:r>
              <a:rPr lang="en-US" sz="750" b="1" dirty="0">
                <a:solidFill>
                  <a:srgbClr val="FFBD59"/>
                </a:solidFill>
                <a:latin typeface="Aptos" pitchFamily="34" charset="0"/>
                <a:ea typeface="Aptos" pitchFamily="34" charset="-122"/>
                <a:cs typeface="Aptos" pitchFamily="34" charset="-120"/>
              </a:rPr>
              <a:t>AGENCY OPERATORS</a:t>
            </a:r>
            <a:endParaRPr lang="en-US" sz="750" dirty="0"/>
          </a:p>
        </p:txBody>
      </p:sp>
      <p:pic>
        <p:nvPicPr>
          <p:cNvPr id="10" name="Image 0" descr="/mnt/data/a_slick_dark_tech_marketing_ui_illustration_info.png">    </p:cNvPr>
          <p:cNvPicPr>
            <a:picLocks noChangeAspect="1"/>
          </p:cNvPicPr>
          <p:nvPr/>
        </p:nvPicPr>
        <p:blipFill>
          <a:blip r:embed="rId1"/>
          <a:srcRect l="14496" r="14496" t="0" b="0"/>
          <a:stretch/>
        </p:blipFill>
        <p:spPr>
          <a:xfrm>
            <a:off x="5486400" y="566928"/>
            <a:ext cx="6172200" cy="4892040"/>
          </a:xfrm>
          <a:prstGeom prst="rect">
            <a:avLst/>
          </a:prstGeom>
        </p:spPr>
      </p:pic>
      <p:sp>
        <p:nvSpPr>
          <p:cNvPr id="11" name="Text 8"/>
          <p:cNvSpPr/>
          <p:nvPr/>
        </p:nvSpPr>
        <p:spPr>
          <a:xfrm>
            <a:off x="5532120" y="5687568"/>
            <a:ext cx="6035040" cy="384048"/>
          </a:xfrm>
          <a:prstGeom prst="rect">
            <a:avLst/>
          </a:prstGeom>
          <a:noFill/>
          <a:ln/>
        </p:spPr>
        <p:txBody>
          <a:bodyPr wrap="square" lIns="508" tIns="508" rIns="508" bIns="508" rtlCol="0" anchor="ctr">
            <a:normAutofit/>
          </a:bodyPr>
          <a:lstStyle/>
          <a:p>
            <a:pPr indent="0" marL="0">
              <a:buNone/>
            </a:pPr>
            <a:r>
              <a:rPr lang="en-US" sz="1200" b="1" dirty="0">
                <a:solidFill>
                  <a:srgbClr val="F6F8FC"/>
                </a:solidFill>
                <a:latin typeface="Aptos" pitchFamily="34" charset="0"/>
                <a:ea typeface="Aptos" pitchFamily="34" charset="-122"/>
                <a:cs typeface="Aptos" pitchFamily="34" charset="-120"/>
              </a:rPr>
              <a:t>Position Metrix as the missing layer between ad data, creative strategy, and execution.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3" name="Text 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02</a:t>
            </a:r>
            <a:endParaRPr lang="en-US" sz="700" dirty="0"/>
          </a:p>
        </p:txBody>
      </p:sp>
      <p:sp>
        <p:nvSpPr>
          <p:cNvPr id="4" name="Text 2"/>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CORE STORY</a:t>
            </a:r>
            <a:endParaRPr lang="en-US" sz="800" dirty="0"/>
          </a:p>
        </p:txBody>
      </p:sp>
      <p:sp>
        <p:nvSpPr>
          <p:cNvPr id="5" name="Text 3"/>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Not more data. Better decisions.</a:t>
            </a:r>
            <a:endParaRPr lang="en-US" sz="2500" dirty="0"/>
          </a:p>
        </p:txBody>
      </p:sp>
      <p:sp>
        <p:nvSpPr>
          <p:cNvPr id="6" name="Text 4"/>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Metrix translates fragmented performance data into insight, action, strategy, and briefs.</a:t>
            </a:r>
            <a:endParaRPr lang="en-US" sz="950" dirty="0"/>
          </a:p>
        </p:txBody>
      </p:sp>
      <p:sp>
        <p:nvSpPr>
          <p:cNvPr id="7" name="Text 5"/>
          <p:cNvSpPr/>
          <p:nvPr/>
        </p:nvSpPr>
        <p:spPr>
          <a:xfrm>
            <a:off x="640080" y="1965960"/>
            <a:ext cx="2331720" cy="1828800"/>
          </a:xfrm>
          <a:prstGeom prst="rect">
            <a:avLst/>
          </a:prstGeom>
          <a:solidFill>
            <a:srgbClr val="101A2B"/>
          </a:solidFill>
          <a:ln>
            <a:solidFill>
              <a:srgbClr val="26354F">
                <a:alpha val="85000"/>
              </a:srgbClr>
            </a:solidFill>
          </a:ln>
        </p:spPr>
        <p:txBody>
          <a:bodyPr wrap="square" lIns="1524" tIns="1524" rIns="1524" bIns="1524" rtlCol="0" anchor="ctr">
            <a:normAutofit/>
          </a:bodyPr>
          <a:lstStyle/>
          <a:p>
            <a:pPr indent="0" marL="0">
              <a:buNone/>
            </a:pPr>
            <a:r>
              <a:rPr lang="en-US" sz="750" b="1" dirty="0">
                <a:solidFill>
                  <a:srgbClr val="EF4444"/>
                </a:solidFill>
                <a:latin typeface="Aptos" pitchFamily="34" charset="0"/>
                <a:ea typeface="Aptos" pitchFamily="34" charset="-122"/>
                <a:cs typeface="Aptos" pitchFamily="34" charset="-120"/>
              </a:rPr>
              <a:t>PROBLEM
</a:t>
            </a:r>
            <a:endParaRPr lang="en-US" sz="750" dirty="0"/>
          </a:p>
          <a:p>
            <a:pPr indent="0" marL="0">
              <a:buNone/>
            </a:pPr>
            <a:r>
              <a:rPr lang="en-US" sz="1300" b="1" dirty="0">
                <a:solidFill>
                  <a:srgbClr val="F6F8FC"/>
                </a:solidFill>
                <a:latin typeface="Aptos" pitchFamily="34" charset="0"/>
                <a:ea typeface="Aptos" pitchFamily="34" charset="-122"/>
                <a:cs typeface="Aptos" pitchFamily="34" charset="-120"/>
              </a:rPr>
              <a:t>The numbers explain what happened.
</a:t>
            </a:r>
            <a:endParaRPr lang="en-US" sz="750" dirty="0"/>
          </a:p>
          <a:p>
            <a:pPr indent="0" marL="0">
              <a:buNone/>
            </a:pPr>
            <a:r>
              <a:rPr lang="en-US" sz="850" dirty="0">
                <a:solidFill>
                  <a:srgbClr val="C7D0DD"/>
                </a:solidFill>
                <a:latin typeface="Aptos" pitchFamily="34" charset="0"/>
                <a:ea typeface="Aptos" pitchFamily="34" charset="-122"/>
                <a:cs typeface="Aptos" pitchFamily="34" charset="-120"/>
              </a:rPr>
              <a:t>Media buyers still have to manually translate campaign metrics into creative cause, budget action, and next tests.</a:t>
            </a:r>
            <a:endParaRPr lang="en-US" sz="750" dirty="0"/>
          </a:p>
        </p:txBody>
      </p:sp>
      <p:sp>
        <p:nvSpPr>
          <p:cNvPr id="8" name="Text 6"/>
          <p:cNvSpPr/>
          <p:nvPr/>
        </p:nvSpPr>
        <p:spPr>
          <a:xfrm>
            <a:off x="3246120" y="1965960"/>
            <a:ext cx="2331720" cy="1828800"/>
          </a:xfrm>
          <a:prstGeom prst="rect">
            <a:avLst/>
          </a:prstGeom>
          <a:solidFill>
            <a:srgbClr val="101A2B"/>
          </a:solidFill>
          <a:ln>
            <a:solidFill>
              <a:srgbClr val="26354F">
                <a:alpha val="85000"/>
              </a:srgbClr>
            </a:solidFill>
          </a:ln>
        </p:spPr>
        <p:txBody>
          <a:bodyPr wrap="square" lIns="1524" tIns="1524" rIns="1524" bIns="1524" rtlCol="0" anchor="ctr">
            <a:normAutofit/>
          </a:bodyPr>
          <a:lstStyle/>
          <a:p>
            <a:pPr indent="0" marL="0">
              <a:buNone/>
            </a:pPr>
            <a:r>
              <a:rPr lang="en-US" sz="750" b="1" dirty="0">
                <a:solidFill>
                  <a:srgbClr val="FFBD59"/>
                </a:solidFill>
                <a:latin typeface="Aptos" pitchFamily="34" charset="0"/>
                <a:ea typeface="Aptos" pitchFamily="34" charset="-122"/>
                <a:cs typeface="Aptos" pitchFamily="34" charset="-120"/>
              </a:rPr>
              <a:t>GAP
</a:t>
            </a:r>
            <a:endParaRPr lang="en-US" sz="750" dirty="0"/>
          </a:p>
          <a:p>
            <a:pPr indent="0" marL="0">
              <a:buNone/>
            </a:pPr>
            <a:r>
              <a:rPr lang="en-US" sz="1300" b="1" dirty="0">
                <a:solidFill>
                  <a:srgbClr val="F6F8FC"/>
                </a:solidFill>
                <a:latin typeface="Aptos" pitchFamily="34" charset="0"/>
                <a:ea typeface="Aptos" pitchFamily="34" charset="-122"/>
                <a:cs typeface="Aptos" pitchFamily="34" charset="-120"/>
              </a:rPr>
              <a:t>Creative signal is buried.
</a:t>
            </a:r>
            <a:endParaRPr lang="en-US" sz="750" dirty="0"/>
          </a:p>
          <a:p>
            <a:pPr indent="0" marL="0">
              <a:buNone/>
            </a:pPr>
            <a:r>
              <a:rPr lang="en-US" sz="850" dirty="0">
                <a:solidFill>
                  <a:srgbClr val="C7D0DD"/>
                </a:solidFill>
                <a:latin typeface="Aptos" pitchFamily="34" charset="0"/>
                <a:ea typeface="Aptos" pitchFamily="34" charset="-122"/>
                <a:cs typeface="Aptos" pitchFamily="34" charset="-120"/>
              </a:rPr>
              <a:t>Winning hooks, offers, formats, audience intent, and funnel stage rarely live in one operator-readable view.</a:t>
            </a:r>
            <a:endParaRPr lang="en-US" sz="750" dirty="0"/>
          </a:p>
        </p:txBody>
      </p:sp>
      <p:sp>
        <p:nvSpPr>
          <p:cNvPr id="9" name="Text 7"/>
          <p:cNvSpPr/>
          <p:nvPr/>
        </p:nvSpPr>
        <p:spPr>
          <a:xfrm>
            <a:off x="5852160" y="1965960"/>
            <a:ext cx="2331720" cy="1828800"/>
          </a:xfrm>
          <a:prstGeom prst="rect">
            <a:avLst/>
          </a:prstGeom>
          <a:solidFill>
            <a:srgbClr val="101A2B"/>
          </a:solidFill>
          <a:ln>
            <a:solidFill>
              <a:srgbClr val="26354F">
                <a:alpha val="85000"/>
              </a:srgbClr>
            </a:solidFill>
          </a:ln>
        </p:spPr>
        <p:txBody>
          <a:bodyPr wrap="square" lIns="1524" tIns="1524" rIns="1524" bIns="1524" rtlCol="0" anchor="ctr">
            <a:normAutofit/>
          </a:bodyPr>
          <a:lstStyle/>
          <a:p>
            <a:pPr indent="0" marL="0">
              <a:buNone/>
            </a:pPr>
            <a:r>
              <a:rPr lang="en-US" sz="750" b="1" dirty="0">
                <a:solidFill>
                  <a:srgbClr val="06B6D4"/>
                </a:solidFill>
                <a:latin typeface="Aptos" pitchFamily="34" charset="0"/>
                <a:ea typeface="Aptos" pitchFamily="34" charset="-122"/>
                <a:cs typeface="Aptos" pitchFamily="34" charset="-120"/>
              </a:rPr>
              <a:t>METRIX
</a:t>
            </a:r>
            <a:endParaRPr lang="en-US" sz="750" dirty="0"/>
          </a:p>
          <a:p>
            <a:pPr indent="0" marL="0">
              <a:buNone/>
            </a:pPr>
            <a:r>
              <a:rPr lang="en-US" sz="1300" b="1" dirty="0">
                <a:solidFill>
                  <a:srgbClr val="F6F8FC"/>
                </a:solidFill>
                <a:latin typeface="Aptos" pitchFamily="34" charset="0"/>
                <a:ea typeface="Aptos" pitchFamily="34" charset="-122"/>
                <a:cs typeface="Aptos" pitchFamily="34" charset="-120"/>
              </a:rPr>
              <a:t>Decision first, data second.
</a:t>
            </a:r>
            <a:endParaRPr lang="en-US" sz="750" dirty="0"/>
          </a:p>
          <a:p>
            <a:pPr indent="0" marL="0">
              <a:buNone/>
            </a:pPr>
            <a:r>
              <a:rPr lang="en-US" sz="850" dirty="0">
                <a:solidFill>
                  <a:srgbClr val="C7D0DD"/>
                </a:solidFill>
                <a:latin typeface="Aptos" pitchFamily="34" charset="0"/>
                <a:ea typeface="Aptos" pitchFamily="34" charset="-122"/>
                <a:cs typeface="Aptos" pitchFamily="34" charset="-120"/>
              </a:rPr>
              <a:t>The user sees the Priority Read first, then the evidence underneath. Data validates the read instead of forcing interpretation.</a:t>
            </a:r>
            <a:endParaRPr lang="en-US" sz="750" dirty="0"/>
          </a:p>
        </p:txBody>
      </p:sp>
      <p:sp>
        <p:nvSpPr>
          <p:cNvPr id="10" name="Text 8"/>
          <p:cNvSpPr/>
          <p:nvPr/>
        </p:nvSpPr>
        <p:spPr>
          <a:xfrm>
            <a:off x="8458200" y="1965960"/>
            <a:ext cx="2331720" cy="1828800"/>
          </a:xfrm>
          <a:prstGeom prst="rect">
            <a:avLst/>
          </a:prstGeom>
          <a:solidFill>
            <a:srgbClr val="101A2B"/>
          </a:solidFill>
          <a:ln>
            <a:solidFill>
              <a:srgbClr val="26354F">
                <a:alpha val="85000"/>
              </a:srgbClr>
            </a:solidFill>
          </a:ln>
        </p:spPr>
        <p:txBody>
          <a:bodyPr wrap="square" lIns="1524" tIns="1524" rIns="1524" bIns="1524" rtlCol="0" anchor="ctr">
            <a:normAutofit/>
          </a:bodyPr>
          <a:lstStyle/>
          <a:p>
            <a:pPr indent="0" marL="0">
              <a:buNone/>
            </a:pPr>
            <a:r>
              <a:rPr lang="en-US" sz="750" b="1" dirty="0">
                <a:solidFill>
                  <a:srgbClr val="00E5A0"/>
                </a:solidFill>
                <a:latin typeface="Aptos" pitchFamily="34" charset="0"/>
                <a:ea typeface="Aptos" pitchFamily="34" charset="-122"/>
                <a:cs typeface="Aptos" pitchFamily="34" charset="-120"/>
              </a:rPr>
              <a:t>OUTCOME
</a:t>
            </a:r>
            <a:endParaRPr lang="en-US" sz="750" dirty="0"/>
          </a:p>
          <a:p>
            <a:pPr indent="0" marL="0">
              <a:buNone/>
            </a:pPr>
            <a:r>
              <a:rPr lang="en-US" sz="1300" b="1" dirty="0">
                <a:solidFill>
                  <a:srgbClr val="F6F8FC"/>
                </a:solidFill>
                <a:latin typeface="Aptos" pitchFamily="34" charset="0"/>
                <a:ea typeface="Aptos" pitchFamily="34" charset="-122"/>
                <a:cs typeface="Aptos" pitchFamily="34" charset="-120"/>
              </a:rPr>
              <a:t>Faster learning loops.
</a:t>
            </a:r>
            <a:endParaRPr lang="en-US" sz="750" dirty="0"/>
          </a:p>
          <a:p>
            <a:pPr indent="0" marL="0">
              <a:buNone/>
            </a:pPr>
            <a:r>
              <a:rPr lang="en-US" sz="850" dirty="0">
                <a:solidFill>
                  <a:srgbClr val="C7D0DD"/>
                </a:solidFill>
                <a:latin typeface="Aptos" pitchFamily="34" charset="0"/>
                <a:ea typeface="Aptos" pitchFamily="34" charset="-122"/>
                <a:cs typeface="Aptos" pitchFamily="34" charset="-120"/>
              </a:rPr>
              <a:t>Scale, hold, kill, rebuild, and brief the next creative sprint with less manual interpretation.</a:t>
            </a:r>
            <a:endParaRPr lang="en-US" sz="750" dirty="0"/>
          </a:p>
        </p:txBody>
      </p:sp>
      <p:sp>
        <p:nvSpPr>
          <p:cNvPr id="11" name="Text 9"/>
          <p:cNvSpPr/>
          <p:nvPr/>
        </p:nvSpPr>
        <p:spPr>
          <a:xfrm>
            <a:off x="640080" y="4590288"/>
            <a:ext cx="105156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Video thesis</a:t>
            </a:r>
            <a:endParaRPr lang="en-US" sz="800" dirty="0"/>
          </a:p>
        </p:txBody>
      </p:sp>
      <p:sp>
        <p:nvSpPr>
          <p:cNvPr id="12" name="Text 10"/>
          <p:cNvSpPr/>
          <p:nvPr/>
        </p:nvSpPr>
        <p:spPr>
          <a:xfrm>
            <a:off x="640080" y="4901184"/>
            <a:ext cx="10515600" cy="640080"/>
          </a:xfrm>
          <a:prstGeom prst="rect">
            <a:avLst/>
          </a:prstGeom>
          <a:noFill/>
          <a:ln/>
        </p:spPr>
        <p:txBody>
          <a:bodyPr wrap="square" lIns="0" tIns="0" rIns="0" bIns="0" rtlCol="0" anchor="ctr">
            <a:normAutofit/>
          </a:bodyPr>
          <a:lstStyle/>
          <a:p>
            <a:pPr indent="0" marL="0">
              <a:buNone/>
            </a:pPr>
            <a:r>
              <a:rPr lang="en-US" sz="2300" b="1" dirty="0">
                <a:solidFill>
                  <a:srgbClr val="F6F8FC"/>
                </a:solidFill>
                <a:latin typeface="Aptos Display" pitchFamily="34" charset="0"/>
                <a:ea typeface="Aptos Display" pitchFamily="34" charset="-122"/>
                <a:cs typeface="Aptos Display" pitchFamily="34" charset="-120"/>
              </a:rPr>
              <a:t>The teams that win on paid social are not guessing faster. They are learning faster. Metrix makes the learning loop operational.</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3" name="Text 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03</a:t>
            </a:r>
            <a:endParaRPr lang="en-US" sz="700" dirty="0"/>
          </a:p>
        </p:txBody>
      </p:sp>
      <p:sp>
        <p:nvSpPr>
          <p:cNvPr id="4" name="Text 2"/>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RECOMMENDED VIDEO STRUCTURE</a:t>
            </a:r>
            <a:endParaRPr lang="en-US" sz="800" dirty="0"/>
          </a:p>
        </p:txBody>
      </p:sp>
      <p:sp>
        <p:nvSpPr>
          <p:cNvPr id="5" name="Text 3"/>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8-10 minute YouTube narrative</a:t>
            </a:r>
            <a:endParaRPr lang="en-US" sz="2500" dirty="0"/>
          </a:p>
        </p:txBody>
      </p:sp>
      <p:sp>
        <p:nvSpPr>
          <p:cNvPr id="6" name="Text 4"/>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Keep it sharp: each beat should make the viewer smarter or more convicted.</a:t>
            </a:r>
            <a:endParaRPr lang="en-US" sz="950" dirty="0"/>
          </a:p>
        </p:txBody>
      </p:sp>
      <p:sp>
        <p:nvSpPr>
          <p:cNvPr id="7" name="Text 5"/>
          <p:cNvSpPr/>
          <p:nvPr/>
        </p:nvSpPr>
        <p:spPr>
          <a:xfrm>
            <a:off x="658368" y="1856232"/>
            <a:ext cx="566928" cy="219456"/>
          </a:xfrm>
          <a:prstGeom prst="rect">
            <a:avLst/>
          </a:prstGeom>
          <a:solidFill>
            <a:srgbClr val="101A2B"/>
          </a:solidFill>
          <a:ln>
            <a:solidFill>
              <a:srgbClr val="00E5A0">
                <a:alpha val="65000"/>
              </a:srgbClr>
            </a:solidFill>
          </a:ln>
        </p:spPr>
        <p:txBody>
          <a:bodyPr wrap="square" lIns="254" tIns="254" rIns="254" bIns="254" rtlCol="0" anchor="ctr"/>
          <a:lstStyle/>
          <a:p>
            <a:pPr algn="ctr" indent="0" marL="0">
              <a:buNone/>
            </a:pPr>
            <a:r>
              <a:rPr lang="en-US" sz="750" b="1" dirty="0">
                <a:solidFill>
                  <a:srgbClr val="00E5A0"/>
                </a:solidFill>
                <a:latin typeface="Aptos" pitchFamily="34" charset="0"/>
                <a:ea typeface="Aptos" pitchFamily="34" charset="-122"/>
                <a:cs typeface="Aptos" pitchFamily="34" charset="-120"/>
              </a:rPr>
              <a:t>0:00</a:t>
            </a:r>
            <a:endParaRPr lang="en-US" sz="750" dirty="0"/>
          </a:p>
        </p:txBody>
      </p:sp>
      <p:sp>
        <p:nvSpPr>
          <p:cNvPr id="8" name="Text 6"/>
          <p:cNvSpPr/>
          <p:nvPr/>
        </p:nvSpPr>
        <p:spPr>
          <a:xfrm>
            <a:off x="1389888" y="1828800"/>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Hook</a:t>
            </a:r>
            <a:endParaRPr lang="en-US" sz="1300" dirty="0"/>
          </a:p>
        </p:txBody>
      </p:sp>
      <p:sp>
        <p:nvSpPr>
          <p:cNvPr id="9" name="Text 7"/>
          <p:cNvSpPr/>
          <p:nvPr/>
        </p:nvSpPr>
        <p:spPr>
          <a:xfrm>
            <a:off x="2971800" y="1847088"/>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Most accounts do not have a data problem. They have a translation problem.</a:t>
            </a:r>
            <a:endParaRPr lang="en-US" sz="1000" dirty="0"/>
          </a:p>
        </p:txBody>
      </p:sp>
      <p:sp>
        <p:nvSpPr>
          <p:cNvPr id="10" name="Text 8"/>
          <p:cNvSpPr/>
          <p:nvPr/>
        </p:nvSpPr>
        <p:spPr>
          <a:xfrm>
            <a:off x="658368" y="2386584"/>
            <a:ext cx="566928" cy="219456"/>
          </a:xfrm>
          <a:prstGeom prst="rect">
            <a:avLst/>
          </a:prstGeom>
          <a:solidFill>
            <a:srgbClr val="101A2B"/>
          </a:solidFill>
          <a:ln>
            <a:solidFill>
              <a:srgbClr val="06B6D4">
                <a:alpha val="65000"/>
              </a:srgbClr>
            </a:solidFill>
          </a:ln>
        </p:spPr>
        <p:txBody>
          <a:bodyPr wrap="square" lIns="254" tIns="254" rIns="254" bIns="254" rtlCol="0" anchor="ctr"/>
          <a:lstStyle/>
          <a:p>
            <a:pPr algn="ctr" indent="0" marL="0">
              <a:buNone/>
            </a:pPr>
            <a:r>
              <a:rPr lang="en-US" sz="750" b="1" dirty="0">
                <a:solidFill>
                  <a:srgbClr val="06B6D4"/>
                </a:solidFill>
                <a:latin typeface="Aptos" pitchFamily="34" charset="0"/>
                <a:ea typeface="Aptos" pitchFamily="34" charset="-122"/>
                <a:cs typeface="Aptos" pitchFamily="34" charset="-120"/>
              </a:rPr>
              <a:t>0:30</a:t>
            </a:r>
            <a:endParaRPr lang="en-US" sz="750" dirty="0"/>
          </a:p>
        </p:txBody>
      </p:sp>
      <p:sp>
        <p:nvSpPr>
          <p:cNvPr id="11" name="Text 9"/>
          <p:cNvSpPr/>
          <p:nvPr/>
        </p:nvSpPr>
        <p:spPr>
          <a:xfrm>
            <a:off x="1389888" y="2359152"/>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Problem</a:t>
            </a:r>
            <a:endParaRPr lang="en-US" sz="1300" dirty="0"/>
          </a:p>
        </p:txBody>
      </p:sp>
      <p:sp>
        <p:nvSpPr>
          <p:cNvPr id="12" name="Text 10"/>
          <p:cNvSpPr/>
          <p:nvPr/>
        </p:nvSpPr>
        <p:spPr>
          <a:xfrm>
            <a:off x="2971800" y="2377440"/>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Winners are visible, but causal creative variables are not.</a:t>
            </a:r>
            <a:endParaRPr lang="en-US" sz="1000" dirty="0"/>
          </a:p>
        </p:txBody>
      </p:sp>
      <p:sp>
        <p:nvSpPr>
          <p:cNvPr id="13" name="Text 11"/>
          <p:cNvSpPr/>
          <p:nvPr/>
        </p:nvSpPr>
        <p:spPr>
          <a:xfrm>
            <a:off x="658368" y="2916936"/>
            <a:ext cx="566928" cy="219456"/>
          </a:xfrm>
          <a:prstGeom prst="rect">
            <a:avLst/>
          </a:prstGeom>
          <a:solidFill>
            <a:srgbClr val="101A2B"/>
          </a:solidFill>
          <a:ln>
            <a:solidFill>
              <a:srgbClr val="00E5A0">
                <a:alpha val="65000"/>
              </a:srgbClr>
            </a:solidFill>
          </a:ln>
        </p:spPr>
        <p:txBody>
          <a:bodyPr wrap="square" lIns="254" tIns="254" rIns="254" bIns="254" rtlCol="0" anchor="ctr"/>
          <a:lstStyle/>
          <a:p>
            <a:pPr algn="ctr" indent="0" marL="0">
              <a:buNone/>
            </a:pPr>
            <a:r>
              <a:rPr lang="en-US" sz="750" b="1" dirty="0">
                <a:solidFill>
                  <a:srgbClr val="00E5A0"/>
                </a:solidFill>
                <a:latin typeface="Aptos" pitchFamily="34" charset="0"/>
                <a:ea typeface="Aptos" pitchFamily="34" charset="-122"/>
                <a:cs typeface="Aptos" pitchFamily="34" charset="-120"/>
              </a:rPr>
              <a:t>1:30</a:t>
            </a:r>
            <a:endParaRPr lang="en-US" sz="750" dirty="0"/>
          </a:p>
        </p:txBody>
      </p:sp>
      <p:sp>
        <p:nvSpPr>
          <p:cNvPr id="14" name="Text 12"/>
          <p:cNvSpPr/>
          <p:nvPr/>
        </p:nvSpPr>
        <p:spPr>
          <a:xfrm>
            <a:off x="1389888" y="2889504"/>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Reveal</a:t>
            </a:r>
            <a:endParaRPr lang="en-US" sz="1300" dirty="0"/>
          </a:p>
        </p:txBody>
      </p:sp>
      <p:sp>
        <p:nvSpPr>
          <p:cNvPr id="15" name="Text 13"/>
          <p:cNvSpPr/>
          <p:nvPr/>
        </p:nvSpPr>
        <p:spPr>
          <a:xfrm>
            <a:off x="2971800" y="2907792"/>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Metrix sits above ad platforms and turns signals into decisions.</a:t>
            </a:r>
            <a:endParaRPr lang="en-US" sz="1000" dirty="0"/>
          </a:p>
        </p:txBody>
      </p:sp>
      <p:sp>
        <p:nvSpPr>
          <p:cNvPr id="16" name="Text 14"/>
          <p:cNvSpPr/>
          <p:nvPr/>
        </p:nvSpPr>
        <p:spPr>
          <a:xfrm>
            <a:off x="658368" y="3447288"/>
            <a:ext cx="566928" cy="219456"/>
          </a:xfrm>
          <a:prstGeom prst="rect">
            <a:avLst/>
          </a:prstGeom>
          <a:solidFill>
            <a:srgbClr val="101A2B"/>
          </a:solidFill>
          <a:ln>
            <a:solidFill>
              <a:srgbClr val="06B6D4">
                <a:alpha val="65000"/>
              </a:srgbClr>
            </a:solidFill>
          </a:ln>
        </p:spPr>
        <p:txBody>
          <a:bodyPr wrap="square" lIns="254" tIns="254" rIns="254" bIns="254" rtlCol="0" anchor="ctr"/>
          <a:lstStyle/>
          <a:p>
            <a:pPr algn="ctr" indent="0" marL="0">
              <a:buNone/>
            </a:pPr>
            <a:r>
              <a:rPr lang="en-US" sz="750" b="1" dirty="0">
                <a:solidFill>
                  <a:srgbClr val="06B6D4"/>
                </a:solidFill>
                <a:latin typeface="Aptos" pitchFamily="34" charset="0"/>
                <a:ea typeface="Aptos" pitchFamily="34" charset="-122"/>
                <a:cs typeface="Aptos" pitchFamily="34" charset="-120"/>
              </a:rPr>
              <a:t>3:00</a:t>
            </a:r>
            <a:endParaRPr lang="en-US" sz="750" dirty="0"/>
          </a:p>
        </p:txBody>
      </p:sp>
      <p:sp>
        <p:nvSpPr>
          <p:cNvPr id="17" name="Text 15"/>
          <p:cNvSpPr/>
          <p:nvPr/>
        </p:nvSpPr>
        <p:spPr>
          <a:xfrm>
            <a:off x="1389888" y="3419856"/>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Demo</a:t>
            </a:r>
            <a:endParaRPr lang="en-US" sz="1300" dirty="0"/>
          </a:p>
        </p:txBody>
      </p:sp>
      <p:sp>
        <p:nvSpPr>
          <p:cNvPr id="18" name="Text 16"/>
          <p:cNvSpPr/>
          <p:nvPr/>
        </p:nvSpPr>
        <p:spPr>
          <a:xfrm>
            <a:off x="2971800" y="3438144"/>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Command Center → Creative Signal → Sprint Matrix → Brief Generator.</a:t>
            </a:r>
            <a:endParaRPr lang="en-US" sz="1000" dirty="0"/>
          </a:p>
        </p:txBody>
      </p:sp>
      <p:sp>
        <p:nvSpPr>
          <p:cNvPr id="19" name="Text 17"/>
          <p:cNvSpPr/>
          <p:nvPr/>
        </p:nvSpPr>
        <p:spPr>
          <a:xfrm>
            <a:off x="658368" y="3977640"/>
            <a:ext cx="566928" cy="219456"/>
          </a:xfrm>
          <a:prstGeom prst="rect">
            <a:avLst/>
          </a:prstGeom>
          <a:solidFill>
            <a:srgbClr val="101A2B"/>
          </a:solidFill>
          <a:ln>
            <a:solidFill>
              <a:srgbClr val="00E5A0">
                <a:alpha val="65000"/>
              </a:srgbClr>
            </a:solidFill>
          </a:ln>
        </p:spPr>
        <p:txBody>
          <a:bodyPr wrap="square" lIns="254" tIns="254" rIns="254" bIns="254" rtlCol="0" anchor="ctr"/>
          <a:lstStyle/>
          <a:p>
            <a:pPr algn="ctr" indent="0" marL="0">
              <a:buNone/>
            </a:pPr>
            <a:r>
              <a:rPr lang="en-US" sz="750" b="1" dirty="0">
                <a:solidFill>
                  <a:srgbClr val="00E5A0"/>
                </a:solidFill>
                <a:latin typeface="Aptos" pitchFamily="34" charset="0"/>
                <a:ea typeface="Aptos" pitchFamily="34" charset="-122"/>
                <a:cs typeface="Aptos" pitchFamily="34" charset="-120"/>
              </a:rPr>
              <a:t>5:30</a:t>
            </a:r>
            <a:endParaRPr lang="en-US" sz="750" dirty="0"/>
          </a:p>
        </p:txBody>
      </p:sp>
      <p:sp>
        <p:nvSpPr>
          <p:cNvPr id="20" name="Text 18"/>
          <p:cNvSpPr/>
          <p:nvPr/>
        </p:nvSpPr>
        <p:spPr>
          <a:xfrm>
            <a:off x="1389888" y="3950208"/>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Buyer value</a:t>
            </a:r>
            <a:endParaRPr lang="en-US" sz="1300" dirty="0"/>
          </a:p>
        </p:txBody>
      </p:sp>
      <p:sp>
        <p:nvSpPr>
          <p:cNvPr id="21" name="Text 19"/>
          <p:cNvSpPr/>
          <p:nvPr/>
        </p:nvSpPr>
        <p:spPr>
          <a:xfrm>
            <a:off x="2971800" y="3968496"/>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Scale what works. Kill waste. Spot risk. Validate faster.</a:t>
            </a:r>
            <a:endParaRPr lang="en-US" sz="1000" dirty="0"/>
          </a:p>
        </p:txBody>
      </p:sp>
      <p:sp>
        <p:nvSpPr>
          <p:cNvPr id="22" name="Text 20"/>
          <p:cNvSpPr/>
          <p:nvPr/>
        </p:nvSpPr>
        <p:spPr>
          <a:xfrm>
            <a:off x="658368" y="4507992"/>
            <a:ext cx="566928" cy="219456"/>
          </a:xfrm>
          <a:prstGeom prst="rect">
            <a:avLst/>
          </a:prstGeom>
          <a:solidFill>
            <a:srgbClr val="101A2B"/>
          </a:solidFill>
          <a:ln>
            <a:solidFill>
              <a:srgbClr val="06B6D4">
                <a:alpha val="65000"/>
              </a:srgbClr>
            </a:solidFill>
          </a:ln>
        </p:spPr>
        <p:txBody>
          <a:bodyPr wrap="square" lIns="254" tIns="254" rIns="254" bIns="254" rtlCol="0" anchor="ctr"/>
          <a:lstStyle/>
          <a:p>
            <a:pPr algn="ctr" indent="0" marL="0">
              <a:buNone/>
            </a:pPr>
            <a:r>
              <a:rPr lang="en-US" sz="750" b="1" dirty="0">
                <a:solidFill>
                  <a:srgbClr val="06B6D4"/>
                </a:solidFill>
                <a:latin typeface="Aptos" pitchFamily="34" charset="0"/>
                <a:ea typeface="Aptos" pitchFamily="34" charset="-122"/>
                <a:cs typeface="Aptos" pitchFamily="34" charset="-120"/>
              </a:rPr>
              <a:t>7:00</a:t>
            </a:r>
            <a:endParaRPr lang="en-US" sz="750" dirty="0"/>
          </a:p>
        </p:txBody>
      </p:sp>
      <p:sp>
        <p:nvSpPr>
          <p:cNvPr id="23" name="Text 21"/>
          <p:cNvSpPr/>
          <p:nvPr/>
        </p:nvSpPr>
        <p:spPr>
          <a:xfrm>
            <a:off x="1389888" y="4480560"/>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Strategist value</a:t>
            </a:r>
            <a:endParaRPr lang="en-US" sz="1300" dirty="0"/>
          </a:p>
        </p:txBody>
      </p:sp>
      <p:sp>
        <p:nvSpPr>
          <p:cNvPr id="24" name="Text 22"/>
          <p:cNvSpPr/>
          <p:nvPr/>
        </p:nvSpPr>
        <p:spPr>
          <a:xfrm>
            <a:off x="2971800" y="4498848"/>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Convert data into roadmap, brief, and production direction.</a:t>
            </a:r>
            <a:endParaRPr lang="en-US" sz="1000" dirty="0"/>
          </a:p>
        </p:txBody>
      </p:sp>
      <p:sp>
        <p:nvSpPr>
          <p:cNvPr id="25" name="Text 23"/>
          <p:cNvSpPr/>
          <p:nvPr/>
        </p:nvSpPr>
        <p:spPr>
          <a:xfrm>
            <a:off x="658368" y="5038344"/>
            <a:ext cx="566928" cy="219456"/>
          </a:xfrm>
          <a:prstGeom prst="rect">
            <a:avLst/>
          </a:prstGeom>
          <a:solidFill>
            <a:srgbClr val="101A2B"/>
          </a:solidFill>
          <a:ln>
            <a:solidFill>
              <a:srgbClr val="00E5A0">
                <a:alpha val="65000"/>
              </a:srgbClr>
            </a:solidFill>
          </a:ln>
        </p:spPr>
        <p:txBody>
          <a:bodyPr wrap="square" lIns="254" tIns="254" rIns="254" bIns="254" rtlCol="0" anchor="ctr"/>
          <a:lstStyle/>
          <a:p>
            <a:pPr algn="ctr" indent="0" marL="0">
              <a:buNone/>
            </a:pPr>
            <a:r>
              <a:rPr lang="en-US" sz="750" b="1" dirty="0">
                <a:solidFill>
                  <a:srgbClr val="00E5A0"/>
                </a:solidFill>
                <a:latin typeface="Aptos" pitchFamily="34" charset="0"/>
                <a:ea typeface="Aptos" pitchFamily="34" charset="-122"/>
                <a:cs typeface="Aptos" pitchFamily="34" charset="-120"/>
              </a:rPr>
              <a:t>8:30</a:t>
            </a:r>
            <a:endParaRPr lang="en-US" sz="750" dirty="0"/>
          </a:p>
        </p:txBody>
      </p:sp>
      <p:sp>
        <p:nvSpPr>
          <p:cNvPr id="26" name="Text 24"/>
          <p:cNvSpPr/>
          <p:nvPr/>
        </p:nvSpPr>
        <p:spPr>
          <a:xfrm>
            <a:off x="1389888" y="5010912"/>
            <a:ext cx="12344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Close</a:t>
            </a:r>
            <a:endParaRPr lang="en-US" sz="1300" dirty="0"/>
          </a:p>
        </p:txBody>
      </p:sp>
      <p:sp>
        <p:nvSpPr>
          <p:cNvPr id="27" name="Text 25"/>
          <p:cNvSpPr/>
          <p:nvPr/>
        </p:nvSpPr>
        <p:spPr>
          <a:xfrm>
            <a:off x="2971800" y="5029200"/>
            <a:ext cx="7818120" cy="228600"/>
          </a:xfrm>
          <a:prstGeom prst="rect">
            <a:avLst/>
          </a:prstGeom>
          <a:noFill/>
          <a:ln/>
        </p:spPr>
        <p:txBody>
          <a:bodyPr wrap="square" lIns="0" tIns="0" rIns="0" bIns="0" rtlCol="0" anchor="ctr">
            <a:normAutofit/>
          </a:bodyPr>
          <a:lstStyle/>
          <a:p>
            <a:pPr indent="0" marL="0">
              <a:buNone/>
            </a:pPr>
            <a:r>
              <a:rPr lang="en-US" sz="1000" dirty="0">
                <a:solidFill>
                  <a:srgbClr val="C7D0DD"/>
                </a:solidFill>
                <a:latin typeface="Aptos" pitchFamily="34" charset="0"/>
                <a:ea typeface="Aptos" pitchFamily="34" charset="-122"/>
                <a:cs typeface="Aptos" pitchFamily="34" charset="-120"/>
              </a:rPr>
              <a:t>Learning velocity is the advantage. Metrix operationalizes it.</a:t>
            </a:r>
            <a:endParaRPr lang="en-US" sz="1000" dirty="0"/>
          </a:p>
        </p:txBody>
      </p:sp>
      <p:sp>
        <p:nvSpPr>
          <p:cNvPr id="28" name="Text 26"/>
          <p:cNvSpPr/>
          <p:nvPr/>
        </p:nvSpPr>
        <p:spPr>
          <a:xfrm>
            <a:off x="658368" y="5577840"/>
            <a:ext cx="1737360" cy="201168"/>
          </a:xfrm>
          <a:prstGeom prst="rect">
            <a:avLst/>
          </a:prstGeom>
          <a:noFill/>
          <a:ln/>
        </p:spPr>
        <p:txBody>
          <a:bodyPr wrap="square" lIns="0" tIns="0" rIns="0" bIns="0" rtlCol="0" anchor="ctr"/>
          <a:lstStyle/>
          <a:p>
            <a:pPr indent="0" marL="0">
              <a:buNone/>
            </a:pPr>
            <a:r>
              <a:rPr lang="en-US" sz="800" b="1" dirty="0">
                <a:solidFill>
                  <a:srgbClr val="FFBD59"/>
                </a:solidFill>
                <a:latin typeface="Aptos" pitchFamily="34" charset="0"/>
                <a:ea typeface="Aptos" pitchFamily="34" charset="-122"/>
                <a:cs typeface="Aptos" pitchFamily="34" charset="-120"/>
              </a:rPr>
              <a:t>Strongest opening line</a:t>
            </a:r>
            <a:endParaRPr lang="en-US" sz="800" dirty="0"/>
          </a:p>
        </p:txBody>
      </p:sp>
      <p:sp>
        <p:nvSpPr>
          <p:cNvPr id="29" name="Text 27"/>
          <p:cNvSpPr/>
          <p:nvPr/>
        </p:nvSpPr>
        <p:spPr>
          <a:xfrm>
            <a:off x="2423160" y="5504688"/>
            <a:ext cx="8321040" cy="347472"/>
          </a:xfrm>
          <a:prstGeom prst="rect">
            <a:avLst/>
          </a:prstGeom>
          <a:noFill/>
          <a:ln/>
        </p:spPr>
        <p:txBody>
          <a:bodyPr wrap="square" lIns="0" tIns="0" rIns="0" bIns="0" rtlCol="0" anchor="ctr">
            <a:normAutofit/>
          </a:bodyPr>
          <a:lstStyle/>
          <a:p>
            <a:pPr indent="0" marL="0">
              <a:buNone/>
            </a:pPr>
            <a:r>
              <a:rPr lang="en-US" sz="1800" b="1" dirty="0">
                <a:solidFill>
                  <a:srgbClr val="F6F8FC"/>
                </a:solidFill>
                <a:latin typeface="Aptos Display" pitchFamily="34" charset="0"/>
                <a:ea typeface="Aptos Display" pitchFamily="34" charset="-122"/>
                <a:cs typeface="Aptos Display" pitchFamily="34" charset="-120"/>
              </a:rPr>
              <a:t>“You can see which ad won. But can you explain why it won well enough to brief the next five creatives?”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VISUAL REFERENCE 01</a:t>
            </a:r>
            <a:endParaRPr lang="en-US" sz="800" dirty="0"/>
          </a:p>
        </p:txBody>
      </p:sp>
      <p:sp>
        <p:nvSpPr>
          <p:cNvPr id="3" name="Text 1"/>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Fragmented data in. Unified intelligence out.</a:t>
            </a:r>
            <a:endParaRPr lang="en-US" sz="2500" dirty="0"/>
          </a:p>
        </p:txBody>
      </p:sp>
      <p:sp>
        <p:nvSpPr>
          <p:cNvPr id="4" name="Text 2"/>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Use this as the macro product mental model.</a:t>
            </a:r>
            <a:endParaRPr lang="en-US" sz="950" dirty="0"/>
          </a:p>
        </p:txBody>
      </p:sp>
      <p:sp>
        <p:nvSpPr>
          <p:cNvPr id="5" name="Text 3"/>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6" name="Text 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04</a:t>
            </a:r>
            <a:endParaRPr lang="en-US" sz="700" dirty="0"/>
          </a:p>
        </p:txBody>
      </p:sp>
      <p:pic>
        <p:nvPicPr>
          <p:cNvPr id="7" name="Image 0" descr="/mnt/data/a_slick_dark_tech_marketing_ui_illustration_info.png">    </p:cNvPr>
          <p:cNvPicPr>
            <a:picLocks noChangeAspect="1"/>
          </p:cNvPicPr>
          <p:nvPr/>
        </p:nvPicPr>
        <p:blipFill>
          <a:blip r:embed="rId1"/>
          <a:srcRect l="0" r="0" t="120" b="120"/>
          <a:stretch/>
        </p:blipFill>
        <p:spPr>
          <a:xfrm>
            <a:off x="530352" y="1920240"/>
            <a:ext cx="7589520" cy="4261104"/>
          </a:xfrm>
          <a:prstGeom prst="rect">
            <a:avLst/>
          </a:prstGeom>
        </p:spPr>
      </p:pic>
      <p:sp>
        <p:nvSpPr>
          <p:cNvPr id="8" name="Text 5"/>
          <p:cNvSpPr/>
          <p:nvPr/>
        </p:nvSpPr>
        <p:spPr>
          <a:xfrm>
            <a:off x="530352" y="6263640"/>
            <a:ext cx="7589520" cy="164592"/>
          </a:xfrm>
          <a:prstGeom prst="rect">
            <a:avLst/>
          </a:prstGeom>
          <a:noFill/>
          <a:ln/>
        </p:spPr>
        <p:txBody>
          <a:bodyPr wrap="square" lIns="0" tIns="0" rIns="0" bIns="0" rtlCol="0" anchor="ctr">
            <a:normAutofit/>
          </a:bodyPr>
          <a:lstStyle/>
          <a:p>
            <a:pPr indent="0" marL="0">
              <a:buNone/>
            </a:pPr>
            <a:r>
              <a:rPr lang="en-US" sz="660" dirty="0">
                <a:solidFill>
                  <a:srgbClr val="8E9AAF"/>
                </a:solidFill>
                <a:latin typeface="Aptos" pitchFamily="34" charset="0"/>
                <a:ea typeface="Aptos" pitchFamily="34" charset="-122"/>
                <a:cs typeface="Aptos" pitchFamily="34" charset="-120"/>
              </a:rPr>
              <a:t>REFERENCE MOCKUP: replace with live Metrix UI screenshot before final public upload.</a:t>
            </a:r>
            <a:endParaRPr lang="en-US" sz="660" dirty="0"/>
          </a:p>
        </p:txBody>
      </p:sp>
      <p:sp>
        <p:nvSpPr>
          <p:cNvPr id="9" name="Text 6"/>
          <p:cNvSpPr/>
          <p:nvPr/>
        </p:nvSpPr>
        <p:spPr>
          <a:xfrm>
            <a:off x="8366760" y="1901952"/>
            <a:ext cx="315468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NotebookLM visual read</a:t>
            </a:r>
            <a:endParaRPr lang="en-US" sz="800" dirty="0"/>
          </a:p>
        </p:txBody>
      </p:sp>
      <p:sp>
        <p:nvSpPr>
          <p:cNvPr id="10" name="Text 7"/>
          <p:cNvSpPr/>
          <p:nvPr/>
        </p:nvSpPr>
        <p:spPr>
          <a:xfrm>
            <a:off x="8366760" y="2240280"/>
            <a:ext cx="3246120" cy="2697480"/>
          </a:xfrm>
          <a:prstGeom prst="rect">
            <a:avLst/>
          </a:prstGeom>
          <a:noFill/>
          <a:ln/>
        </p:spPr>
        <p:txBody>
          <a:bodyPr wrap="square" lIns="635" tIns="635" rIns="635" bIns="635" rtlCol="0" anchor="ctr">
            <a:normAutofit/>
          </a:bodyPr>
          <a:lstStyle/>
          <a:p>
            <a:pPr indent="0" marL="0">
              <a:buNone/>
            </a:pPr>
            <a:r>
              <a:rPr lang="en-US" sz="1050" dirty="0">
                <a:solidFill>
                  <a:srgbClr val="C7D0DD"/>
                </a:solidFill>
                <a:latin typeface="Aptos" pitchFamily="34" charset="0"/>
                <a:ea typeface="Aptos" pitchFamily="34" charset="-122"/>
                <a:cs typeface="Aptos" pitchFamily="34" charset="-120"/>
              </a:rPr>
              <a:t>1. Show ad platforms, ecommerce data, MMPs, and creative libraries flowing into Metrix.</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2. Make the output feel practical: spend optimization, creative direction, audience clarity, action speed.</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3. Voiceover should frame Metrix as a layer above the tools, not a replacement for them.</a:t>
            </a:r>
            <a:endParaRPr lang="en-US" sz="1050" dirty="0"/>
          </a:p>
        </p:txBody>
      </p:sp>
      <p:sp>
        <p:nvSpPr>
          <p:cNvPr id="11" name="Text 8"/>
          <p:cNvSpPr/>
          <p:nvPr/>
        </p:nvSpPr>
        <p:spPr>
          <a:xfrm>
            <a:off x="8366760" y="5230368"/>
            <a:ext cx="3246120" cy="658368"/>
          </a:xfrm>
          <a:prstGeom prst="rect">
            <a:avLst/>
          </a:prstGeom>
          <a:solidFill>
            <a:srgbClr val="101A2B"/>
          </a:solidFill>
          <a:ln>
            <a:solidFill>
              <a:srgbClr val="26354F"/>
            </a:solidFill>
          </a:ln>
        </p:spPr>
        <p:txBody>
          <a:bodyPr wrap="square" lIns="1270" tIns="1270" rIns="1270" bIns="1270" rtlCol="0" anchor="ctr">
            <a:normAutofit/>
          </a:bodyPr>
          <a:lstStyle/>
          <a:p>
            <a:pPr indent="0" marL="0">
              <a:buNone/>
            </a:pPr>
            <a:r>
              <a:rPr lang="en-US" sz="900" dirty="0">
                <a:solidFill>
                  <a:srgbClr val="F6F8FC"/>
                </a:solidFill>
                <a:latin typeface="Aptos" pitchFamily="34" charset="0"/>
                <a:ea typeface="Aptos" pitchFamily="34" charset="-122"/>
                <a:cs typeface="Aptos" pitchFamily="34" charset="-120"/>
              </a:rPr>
              <a:t>Use this frame to guide the video edit: slow zoom, cursor highlight, one decisive voiceover point per screen.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VISUAL REFERENCE 02</a:t>
            </a:r>
            <a:endParaRPr lang="en-US" sz="800" dirty="0"/>
          </a:p>
        </p:txBody>
      </p:sp>
      <p:sp>
        <p:nvSpPr>
          <p:cNvPr id="3" name="Text 1"/>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Command Center: decision-first read.</a:t>
            </a:r>
            <a:endParaRPr lang="en-US" sz="2500" dirty="0"/>
          </a:p>
        </p:txBody>
      </p:sp>
      <p:sp>
        <p:nvSpPr>
          <p:cNvPr id="4" name="Text 2"/>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This is the fastest “aha” screen for the viewer.</a:t>
            </a:r>
            <a:endParaRPr lang="en-US" sz="950" dirty="0"/>
          </a:p>
        </p:txBody>
      </p:sp>
      <p:sp>
        <p:nvSpPr>
          <p:cNvPr id="5" name="Text 3"/>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6" name="Text 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05</a:t>
            </a:r>
            <a:endParaRPr lang="en-US" sz="700" dirty="0"/>
          </a:p>
        </p:txBody>
      </p:sp>
      <p:pic>
        <p:nvPicPr>
          <p:cNvPr id="7" name="Image 0" descr="/mnt/data/a_widescreen_dark_themed_dashboard_ui_software_i.png">    </p:cNvPr>
          <p:cNvPicPr>
            <a:picLocks noChangeAspect="1"/>
          </p:cNvPicPr>
          <p:nvPr/>
        </p:nvPicPr>
        <p:blipFill>
          <a:blip r:embed="rId1"/>
          <a:srcRect l="0" r="0" t="120" b="120"/>
          <a:stretch/>
        </p:blipFill>
        <p:spPr>
          <a:xfrm>
            <a:off x="530352" y="1920240"/>
            <a:ext cx="7589520" cy="4261104"/>
          </a:xfrm>
          <a:prstGeom prst="rect">
            <a:avLst/>
          </a:prstGeom>
        </p:spPr>
      </p:pic>
      <p:sp>
        <p:nvSpPr>
          <p:cNvPr id="8" name="Text 5"/>
          <p:cNvSpPr/>
          <p:nvPr/>
        </p:nvSpPr>
        <p:spPr>
          <a:xfrm>
            <a:off x="530352" y="6263640"/>
            <a:ext cx="7589520" cy="164592"/>
          </a:xfrm>
          <a:prstGeom prst="rect">
            <a:avLst/>
          </a:prstGeom>
          <a:noFill/>
          <a:ln/>
        </p:spPr>
        <p:txBody>
          <a:bodyPr wrap="square" lIns="0" tIns="0" rIns="0" bIns="0" rtlCol="0" anchor="ctr">
            <a:normAutofit/>
          </a:bodyPr>
          <a:lstStyle/>
          <a:p>
            <a:pPr indent="0" marL="0">
              <a:buNone/>
            </a:pPr>
            <a:r>
              <a:rPr lang="en-US" sz="660" dirty="0">
                <a:solidFill>
                  <a:srgbClr val="8E9AAF"/>
                </a:solidFill>
                <a:latin typeface="Aptos" pitchFamily="34" charset="0"/>
                <a:ea typeface="Aptos" pitchFamily="34" charset="-122"/>
                <a:cs typeface="Aptos" pitchFamily="34" charset="-120"/>
              </a:rPr>
              <a:t>REFERENCE MOCKUP: replace with live Metrix UI screenshot before final public upload.</a:t>
            </a:r>
            <a:endParaRPr lang="en-US" sz="660" dirty="0"/>
          </a:p>
        </p:txBody>
      </p:sp>
      <p:sp>
        <p:nvSpPr>
          <p:cNvPr id="9" name="Text 6"/>
          <p:cNvSpPr/>
          <p:nvPr/>
        </p:nvSpPr>
        <p:spPr>
          <a:xfrm>
            <a:off x="8366760" y="1901952"/>
            <a:ext cx="315468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NotebookLM visual read</a:t>
            </a:r>
            <a:endParaRPr lang="en-US" sz="800" dirty="0"/>
          </a:p>
        </p:txBody>
      </p:sp>
      <p:sp>
        <p:nvSpPr>
          <p:cNvPr id="10" name="Text 7"/>
          <p:cNvSpPr/>
          <p:nvPr/>
        </p:nvSpPr>
        <p:spPr>
          <a:xfrm>
            <a:off x="8366760" y="2240280"/>
            <a:ext cx="3246120" cy="2697480"/>
          </a:xfrm>
          <a:prstGeom prst="rect">
            <a:avLst/>
          </a:prstGeom>
          <a:noFill/>
          <a:ln/>
        </p:spPr>
        <p:txBody>
          <a:bodyPr wrap="square" lIns="635" tIns="635" rIns="635" bIns="635" rtlCol="0" anchor="ctr">
            <a:normAutofit/>
          </a:bodyPr>
          <a:lstStyle/>
          <a:p>
            <a:pPr indent="0" marL="0">
              <a:buNone/>
            </a:pPr>
            <a:r>
              <a:rPr lang="en-US" sz="1050" dirty="0">
                <a:solidFill>
                  <a:srgbClr val="C7D0DD"/>
                </a:solidFill>
                <a:latin typeface="Aptos" pitchFamily="34" charset="0"/>
                <a:ea typeface="Aptos" pitchFamily="34" charset="-122"/>
                <a:cs typeface="Aptos" pitchFamily="34" charset="-120"/>
              </a:rPr>
              <a:t>1. Start with Priority Read before showing KPIs.</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2. Use the KPI strip as evidence, not the main story.</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3. Narrate what the buyer should do next, not just what the dashboard shows.</a:t>
            </a:r>
            <a:endParaRPr lang="en-US" sz="1050" dirty="0"/>
          </a:p>
        </p:txBody>
      </p:sp>
      <p:sp>
        <p:nvSpPr>
          <p:cNvPr id="11" name="Text 8"/>
          <p:cNvSpPr/>
          <p:nvPr/>
        </p:nvSpPr>
        <p:spPr>
          <a:xfrm>
            <a:off x="8366760" y="5230368"/>
            <a:ext cx="3246120" cy="658368"/>
          </a:xfrm>
          <a:prstGeom prst="rect">
            <a:avLst/>
          </a:prstGeom>
          <a:solidFill>
            <a:srgbClr val="101A2B"/>
          </a:solidFill>
          <a:ln>
            <a:solidFill>
              <a:srgbClr val="26354F"/>
            </a:solidFill>
          </a:ln>
        </p:spPr>
        <p:txBody>
          <a:bodyPr wrap="square" lIns="1270" tIns="1270" rIns="1270" bIns="1270" rtlCol="0" anchor="ctr">
            <a:normAutofit/>
          </a:bodyPr>
          <a:lstStyle/>
          <a:p>
            <a:pPr indent="0" marL="0">
              <a:buNone/>
            </a:pPr>
            <a:r>
              <a:rPr lang="en-US" sz="900" dirty="0">
                <a:solidFill>
                  <a:srgbClr val="F6F8FC"/>
                </a:solidFill>
                <a:latin typeface="Aptos" pitchFamily="34" charset="0"/>
                <a:ea typeface="Aptos" pitchFamily="34" charset="-122"/>
                <a:cs typeface="Aptos" pitchFamily="34" charset="-120"/>
              </a:rPr>
              <a:t>Use this frame to guide the video edit: slow zoom, cursor highlight, one decisive voiceover point per screen.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VISUAL REFERENCE 03</a:t>
            </a:r>
            <a:endParaRPr lang="en-US" sz="800" dirty="0"/>
          </a:p>
        </p:txBody>
      </p:sp>
      <p:sp>
        <p:nvSpPr>
          <p:cNvPr id="3" name="Text 1"/>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Creative Signal: why the winner is winning.</a:t>
            </a:r>
            <a:endParaRPr lang="en-US" sz="2500" dirty="0"/>
          </a:p>
        </p:txBody>
      </p:sp>
      <p:sp>
        <p:nvSpPr>
          <p:cNvPr id="4" name="Text 2"/>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Make the creative intelligence value obvious.</a:t>
            </a:r>
            <a:endParaRPr lang="en-US" sz="950" dirty="0"/>
          </a:p>
        </p:txBody>
      </p:sp>
      <p:sp>
        <p:nvSpPr>
          <p:cNvPr id="5" name="Text 3"/>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6" name="Text 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06</a:t>
            </a:r>
            <a:endParaRPr lang="en-US" sz="700" dirty="0"/>
          </a:p>
        </p:txBody>
      </p:sp>
      <p:pic>
        <p:nvPicPr>
          <p:cNvPr id="7" name="Image 0" descr="/mnt/data/a_dark_high_tech_dashboard_ui_screenshot_overall.png">    </p:cNvPr>
          <p:cNvPicPr>
            <a:picLocks noChangeAspect="1"/>
          </p:cNvPicPr>
          <p:nvPr/>
        </p:nvPicPr>
        <p:blipFill>
          <a:blip r:embed="rId1"/>
          <a:srcRect l="0" r="0" t="120" b="120"/>
          <a:stretch/>
        </p:blipFill>
        <p:spPr>
          <a:xfrm>
            <a:off x="530352" y="1920240"/>
            <a:ext cx="7589520" cy="4261104"/>
          </a:xfrm>
          <a:prstGeom prst="rect">
            <a:avLst/>
          </a:prstGeom>
        </p:spPr>
      </p:pic>
      <p:sp>
        <p:nvSpPr>
          <p:cNvPr id="8" name="Text 5"/>
          <p:cNvSpPr/>
          <p:nvPr/>
        </p:nvSpPr>
        <p:spPr>
          <a:xfrm>
            <a:off x="530352" y="6263640"/>
            <a:ext cx="7589520" cy="164592"/>
          </a:xfrm>
          <a:prstGeom prst="rect">
            <a:avLst/>
          </a:prstGeom>
          <a:noFill/>
          <a:ln/>
        </p:spPr>
        <p:txBody>
          <a:bodyPr wrap="square" lIns="0" tIns="0" rIns="0" bIns="0" rtlCol="0" anchor="ctr">
            <a:normAutofit/>
          </a:bodyPr>
          <a:lstStyle/>
          <a:p>
            <a:pPr indent="0" marL="0">
              <a:buNone/>
            </a:pPr>
            <a:r>
              <a:rPr lang="en-US" sz="660" dirty="0">
                <a:solidFill>
                  <a:srgbClr val="8E9AAF"/>
                </a:solidFill>
                <a:latin typeface="Aptos" pitchFamily="34" charset="0"/>
                <a:ea typeface="Aptos" pitchFamily="34" charset="-122"/>
                <a:cs typeface="Aptos" pitchFamily="34" charset="-120"/>
              </a:rPr>
              <a:t>REFERENCE MOCKUP: replace with live Metrix UI screenshot before final public upload.</a:t>
            </a:r>
            <a:endParaRPr lang="en-US" sz="660" dirty="0"/>
          </a:p>
        </p:txBody>
      </p:sp>
      <p:sp>
        <p:nvSpPr>
          <p:cNvPr id="9" name="Text 6"/>
          <p:cNvSpPr/>
          <p:nvPr/>
        </p:nvSpPr>
        <p:spPr>
          <a:xfrm>
            <a:off x="8366760" y="1901952"/>
            <a:ext cx="315468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NotebookLM visual read</a:t>
            </a:r>
            <a:endParaRPr lang="en-US" sz="800" dirty="0"/>
          </a:p>
        </p:txBody>
      </p:sp>
      <p:sp>
        <p:nvSpPr>
          <p:cNvPr id="10" name="Text 7"/>
          <p:cNvSpPr/>
          <p:nvPr/>
        </p:nvSpPr>
        <p:spPr>
          <a:xfrm>
            <a:off x="8366760" y="2240280"/>
            <a:ext cx="3246120" cy="2697480"/>
          </a:xfrm>
          <a:prstGeom prst="rect">
            <a:avLst/>
          </a:prstGeom>
          <a:noFill/>
          <a:ln/>
        </p:spPr>
        <p:txBody>
          <a:bodyPr wrap="square" lIns="635" tIns="635" rIns="635" bIns="635" rtlCol="0" anchor="ctr">
            <a:normAutofit/>
          </a:bodyPr>
          <a:lstStyle/>
          <a:p>
            <a:pPr indent="0" marL="0">
              <a:buNone/>
            </a:pPr>
            <a:r>
              <a:rPr lang="en-US" sz="1050" dirty="0">
                <a:solidFill>
                  <a:srgbClr val="C7D0DD"/>
                </a:solidFill>
                <a:latin typeface="Aptos" pitchFamily="34" charset="0"/>
                <a:ea typeface="Aptos" pitchFamily="34" charset="-122"/>
                <a:cs typeface="Aptos" pitchFamily="34" charset="-120"/>
              </a:rPr>
              <a:t>1. Show the winning creative and its score.</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2. Call out hook, transformation, UGC, format, emotional impact, and conversion signal.</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3. Use the right panel to show the two audiences: media buyer action and strategist next brief.</a:t>
            </a:r>
            <a:endParaRPr lang="en-US" sz="1050" dirty="0"/>
          </a:p>
        </p:txBody>
      </p:sp>
      <p:sp>
        <p:nvSpPr>
          <p:cNvPr id="11" name="Text 8"/>
          <p:cNvSpPr/>
          <p:nvPr/>
        </p:nvSpPr>
        <p:spPr>
          <a:xfrm>
            <a:off x="8366760" y="5230368"/>
            <a:ext cx="3246120" cy="658368"/>
          </a:xfrm>
          <a:prstGeom prst="rect">
            <a:avLst/>
          </a:prstGeom>
          <a:solidFill>
            <a:srgbClr val="101A2B"/>
          </a:solidFill>
          <a:ln>
            <a:solidFill>
              <a:srgbClr val="26354F"/>
            </a:solidFill>
          </a:ln>
        </p:spPr>
        <p:txBody>
          <a:bodyPr wrap="square" lIns="1270" tIns="1270" rIns="1270" bIns="1270" rtlCol="0" anchor="ctr">
            <a:normAutofit/>
          </a:bodyPr>
          <a:lstStyle/>
          <a:p>
            <a:pPr indent="0" marL="0">
              <a:buNone/>
            </a:pPr>
            <a:r>
              <a:rPr lang="en-US" sz="900" dirty="0">
                <a:solidFill>
                  <a:srgbClr val="F6F8FC"/>
                </a:solidFill>
                <a:latin typeface="Aptos" pitchFamily="34" charset="0"/>
                <a:ea typeface="Aptos" pitchFamily="34" charset="-122"/>
                <a:cs typeface="Aptos" pitchFamily="34" charset="-120"/>
              </a:rPr>
              <a:t>Use this frame to guide the video edit: slow zoom, cursor highlight, one decisive voiceover point per screen.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VISUAL REFERENCE 04</a:t>
            </a:r>
            <a:endParaRPr lang="en-US" sz="800" dirty="0"/>
          </a:p>
        </p:txBody>
      </p:sp>
      <p:sp>
        <p:nvSpPr>
          <p:cNvPr id="3" name="Text 1"/>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IAP Sprint Matrix: scale, hold, kill, rebuild.</a:t>
            </a:r>
            <a:endParaRPr lang="en-US" sz="2500" dirty="0"/>
          </a:p>
        </p:txBody>
      </p:sp>
      <p:sp>
        <p:nvSpPr>
          <p:cNvPr id="4" name="Text 2"/>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This is the execution layer for testing cadence.</a:t>
            </a:r>
            <a:endParaRPr lang="en-US" sz="950" dirty="0"/>
          </a:p>
        </p:txBody>
      </p:sp>
      <p:sp>
        <p:nvSpPr>
          <p:cNvPr id="5" name="Text 3"/>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6" name="Text 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07</a:t>
            </a:r>
            <a:endParaRPr lang="en-US" sz="700" dirty="0"/>
          </a:p>
        </p:txBody>
      </p:sp>
      <p:pic>
        <p:nvPicPr>
          <p:cNvPr id="7" name="Image 0" descr="/mnt/data/a_clean_high_resolution_dark_ui_dashboard_screens.png">    </p:cNvPr>
          <p:cNvPicPr>
            <a:picLocks noChangeAspect="1"/>
          </p:cNvPicPr>
          <p:nvPr/>
        </p:nvPicPr>
        <p:blipFill>
          <a:blip r:embed="rId1"/>
          <a:srcRect l="0" r="0" t="120" b="120"/>
          <a:stretch/>
        </p:blipFill>
        <p:spPr>
          <a:xfrm>
            <a:off x="530352" y="1920240"/>
            <a:ext cx="7589520" cy="4261104"/>
          </a:xfrm>
          <a:prstGeom prst="rect">
            <a:avLst/>
          </a:prstGeom>
        </p:spPr>
      </p:pic>
      <p:sp>
        <p:nvSpPr>
          <p:cNvPr id="8" name="Text 5"/>
          <p:cNvSpPr/>
          <p:nvPr/>
        </p:nvSpPr>
        <p:spPr>
          <a:xfrm>
            <a:off x="530352" y="6263640"/>
            <a:ext cx="7589520" cy="164592"/>
          </a:xfrm>
          <a:prstGeom prst="rect">
            <a:avLst/>
          </a:prstGeom>
          <a:noFill/>
          <a:ln/>
        </p:spPr>
        <p:txBody>
          <a:bodyPr wrap="square" lIns="0" tIns="0" rIns="0" bIns="0" rtlCol="0" anchor="ctr">
            <a:normAutofit/>
          </a:bodyPr>
          <a:lstStyle/>
          <a:p>
            <a:pPr indent="0" marL="0">
              <a:buNone/>
            </a:pPr>
            <a:r>
              <a:rPr lang="en-US" sz="660" dirty="0">
                <a:solidFill>
                  <a:srgbClr val="8E9AAF"/>
                </a:solidFill>
                <a:latin typeface="Aptos" pitchFamily="34" charset="0"/>
                <a:ea typeface="Aptos" pitchFamily="34" charset="-122"/>
                <a:cs typeface="Aptos" pitchFamily="34" charset="-120"/>
              </a:rPr>
              <a:t>REFERENCE MOCKUP: replace with live Metrix UI screenshot before final public upload.</a:t>
            </a:r>
            <a:endParaRPr lang="en-US" sz="660" dirty="0"/>
          </a:p>
        </p:txBody>
      </p:sp>
      <p:sp>
        <p:nvSpPr>
          <p:cNvPr id="9" name="Text 6"/>
          <p:cNvSpPr/>
          <p:nvPr/>
        </p:nvSpPr>
        <p:spPr>
          <a:xfrm>
            <a:off x="8366760" y="1901952"/>
            <a:ext cx="315468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NotebookLM visual read</a:t>
            </a:r>
            <a:endParaRPr lang="en-US" sz="800" dirty="0"/>
          </a:p>
        </p:txBody>
      </p:sp>
      <p:sp>
        <p:nvSpPr>
          <p:cNvPr id="10" name="Text 7"/>
          <p:cNvSpPr/>
          <p:nvPr/>
        </p:nvSpPr>
        <p:spPr>
          <a:xfrm>
            <a:off x="8366760" y="2240280"/>
            <a:ext cx="3246120" cy="2697480"/>
          </a:xfrm>
          <a:prstGeom prst="rect">
            <a:avLst/>
          </a:prstGeom>
          <a:noFill/>
          <a:ln/>
        </p:spPr>
        <p:txBody>
          <a:bodyPr wrap="square" lIns="635" tIns="635" rIns="635" bIns="635" rtlCol="0" anchor="ctr">
            <a:normAutofit/>
          </a:bodyPr>
          <a:lstStyle/>
          <a:p>
            <a:pPr indent="0" marL="0">
              <a:buNone/>
            </a:pPr>
            <a:r>
              <a:rPr lang="en-US" sz="1050" dirty="0">
                <a:solidFill>
                  <a:srgbClr val="C7D0DD"/>
                </a:solidFill>
                <a:latin typeface="Aptos" pitchFamily="34" charset="0"/>
                <a:ea typeface="Aptos" pitchFamily="34" charset="-122"/>
                <a:cs typeface="Aptos" pitchFamily="34" charset="-120"/>
              </a:rPr>
              <a:t>1. Frame the matrix as a sprint operating system.</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2. Explain that every concept has a status and next action.</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3. Use this moment to connect creative testing to budget allocation.</a:t>
            </a:r>
            <a:endParaRPr lang="en-US" sz="1050" dirty="0"/>
          </a:p>
        </p:txBody>
      </p:sp>
      <p:sp>
        <p:nvSpPr>
          <p:cNvPr id="11" name="Text 8"/>
          <p:cNvSpPr/>
          <p:nvPr/>
        </p:nvSpPr>
        <p:spPr>
          <a:xfrm>
            <a:off x="8366760" y="5230368"/>
            <a:ext cx="3246120" cy="658368"/>
          </a:xfrm>
          <a:prstGeom prst="rect">
            <a:avLst/>
          </a:prstGeom>
          <a:solidFill>
            <a:srgbClr val="101A2B"/>
          </a:solidFill>
          <a:ln>
            <a:solidFill>
              <a:srgbClr val="26354F"/>
            </a:solidFill>
          </a:ln>
        </p:spPr>
        <p:txBody>
          <a:bodyPr wrap="square" lIns="1270" tIns="1270" rIns="1270" bIns="1270" rtlCol="0" anchor="ctr">
            <a:normAutofit/>
          </a:bodyPr>
          <a:lstStyle/>
          <a:p>
            <a:pPr indent="0" marL="0">
              <a:buNone/>
            </a:pPr>
            <a:r>
              <a:rPr lang="en-US" sz="900" dirty="0">
                <a:solidFill>
                  <a:srgbClr val="F6F8FC"/>
                </a:solidFill>
                <a:latin typeface="Aptos" pitchFamily="34" charset="0"/>
                <a:ea typeface="Aptos" pitchFamily="34" charset="-122"/>
                <a:cs typeface="Aptos" pitchFamily="34" charset="-120"/>
              </a:rPr>
              <a:t>Use this frame to guide the video edit: slow zoom, cursor highlight, one decisive voiceover point per screen.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VISUAL REFERENCE 05</a:t>
            </a:r>
            <a:endParaRPr lang="en-US" sz="800" dirty="0"/>
          </a:p>
        </p:txBody>
      </p:sp>
      <p:sp>
        <p:nvSpPr>
          <p:cNvPr id="3" name="Text 1"/>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AI Brief Generator: signal becomes production.</a:t>
            </a:r>
            <a:endParaRPr lang="en-US" sz="2500" dirty="0"/>
          </a:p>
        </p:txBody>
      </p:sp>
      <p:sp>
        <p:nvSpPr>
          <p:cNvPr id="4" name="Text 2"/>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This closes the loop from insight to asset creation.</a:t>
            </a:r>
            <a:endParaRPr lang="en-US" sz="950" dirty="0"/>
          </a:p>
        </p:txBody>
      </p:sp>
      <p:sp>
        <p:nvSpPr>
          <p:cNvPr id="5" name="Text 3"/>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6" name="Text 4"/>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08</a:t>
            </a:r>
            <a:endParaRPr lang="en-US" sz="700" dirty="0"/>
          </a:p>
        </p:txBody>
      </p:sp>
      <p:pic>
        <p:nvPicPr>
          <p:cNvPr id="7" name="Image 0" descr="/mnt/data/a_high_resolution_screenshot_of_a_dark_themed_saas.png">    </p:cNvPr>
          <p:cNvPicPr>
            <a:picLocks noChangeAspect="1"/>
          </p:cNvPicPr>
          <p:nvPr/>
        </p:nvPicPr>
        <p:blipFill>
          <a:blip r:embed="rId1"/>
          <a:srcRect l="0" r="0" t="120" b="120"/>
          <a:stretch/>
        </p:blipFill>
        <p:spPr>
          <a:xfrm>
            <a:off x="530352" y="1920240"/>
            <a:ext cx="7589520" cy="4261104"/>
          </a:xfrm>
          <a:prstGeom prst="rect">
            <a:avLst/>
          </a:prstGeom>
        </p:spPr>
      </p:pic>
      <p:sp>
        <p:nvSpPr>
          <p:cNvPr id="8" name="Text 5"/>
          <p:cNvSpPr/>
          <p:nvPr/>
        </p:nvSpPr>
        <p:spPr>
          <a:xfrm>
            <a:off x="530352" y="6263640"/>
            <a:ext cx="7589520" cy="164592"/>
          </a:xfrm>
          <a:prstGeom prst="rect">
            <a:avLst/>
          </a:prstGeom>
          <a:noFill/>
          <a:ln/>
        </p:spPr>
        <p:txBody>
          <a:bodyPr wrap="square" lIns="0" tIns="0" rIns="0" bIns="0" rtlCol="0" anchor="ctr">
            <a:normAutofit/>
          </a:bodyPr>
          <a:lstStyle/>
          <a:p>
            <a:pPr indent="0" marL="0">
              <a:buNone/>
            </a:pPr>
            <a:r>
              <a:rPr lang="en-US" sz="660" dirty="0">
                <a:solidFill>
                  <a:srgbClr val="8E9AAF"/>
                </a:solidFill>
                <a:latin typeface="Aptos" pitchFamily="34" charset="0"/>
                <a:ea typeface="Aptos" pitchFamily="34" charset="-122"/>
                <a:cs typeface="Aptos" pitchFamily="34" charset="-120"/>
              </a:rPr>
              <a:t>REFERENCE MOCKUP: replace with live Metrix UI screenshot before final public upload.</a:t>
            </a:r>
            <a:endParaRPr lang="en-US" sz="660" dirty="0"/>
          </a:p>
        </p:txBody>
      </p:sp>
      <p:sp>
        <p:nvSpPr>
          <p:cNvPr id="9" name="Text 6"/>
          <p:cNvSpPr/>
          <p:nvPr/>
        </p:nvSpPr>
        <p:spPr>
          <a:xfrm>
            <a:off x="8366760" y="1901952"/>
            <a:ext cx="315468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NotebookLM visual read</a:t>
            </a:r>
            <a:endParaRPr lang="en-US" sz="800" dirty="0"/>
          </a:p>
        </p:txBody>
      </p:sp>
      <p:sp>
        <p:nvSpPr>
          <p:cNvPr id="10" name="Text 7"/>
          <p:cNvSpPr/>
          <p:nvPr/>
        </p:nvSpPr>
        <p:spPr>
          <a:xfrm>
            <a:off x="8366760" y="2240280"/>
            <a:ext cx="3246120" cy="2697480"/>
          </a:xfrm>
          <a:prstGeom prst="rect">
            <a:avLst/>
          </a:prstGeom>
          <a:noFill/>
          <a:ln/>
        </p:spPr>
        <p:txBody>
          <a:bodyPr wrap="square" lIns="635" tIns="635" rIns="635" bIns="635" rtlCol="0" anchor="ctr">
            <a:normAutofit/>
          </a:bodyPr>
          <a:lstStyle/>
          <a:p>
            <a:pPr indent="0" marL="0">
              <a:buNone/>
            </a:pPr>
            <a:r>
              <a:rPr lang="en-US" sz="1050" dirty="0">
                <a:solidFill>
                  <a:srgbClr val="C7D0DD"/>
                </a:solidFill>
                <a:latin typeface="Aptos" pitchFamily="34" charset="0"/>
                <a:ea typeface="Aptos" pitchFamily="34" charset="-122"/>
                <a:cs typeface="Aptos" pitchFamily="34" charset="-120"/>
              </a:rPr>
              <a:t>1. Show the path: signal → analysis → brief → action → approval.</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2. Emphasize production-ready direction based on real account signal.</a:t>
            </a:r>
            <a:endParaRPr lang="en-US" sz="1050" dirty="0"/>
          </a:p>
          <a:p>
            <a:pPr indent="0" marL="0">
              <a:buNone/>
            </a:pPr>
            <a:r>
              <a:rPr lang="en-US" sz="1050" dirty="0">
                <a:solidFill>
                  <a:srgbClr val="C7D0DD"/>
                </a:solidFill>
                <a:latin typeface="Aptos" pitchFamily="34" charset="0"/>
                <a:ea typeface="Aptos" pitchFamily="34" charset="-122"/>
                <a:cs typeface="Aptos" pitchFamily="34" charset="-120"/>
              </a:rPr>
              <a:t>3. Avoid over-selling AI. The real value is reducing translation friction.</a:t>
            </a:r>
            <a:endParaRPr lang="en-US" sz="1050" dirty="0"/>
          </a:p>
        </p:txBody>
      </p:sp>
      <p:sp>
        <p:nvSpPr>
          <p:cNvPr id="11" name="Text 8"/>
          <p:cNvSpPr/>
          <p:nvPr/>
        </p:nvSpPr>
        <p:spPr>
          <a:xfrm>
            <a:off x="8366760" y="5230368"/>
            <a:ext cx="3246120" cy="658368"/>
          </a:xfrm>
          <a:prstGeom prst="rect">
            <a:avLst/>
          </a:prstGeom>
          <a:solidFill>
            <a:srgbClr val="101A2B"/>
          </a:solidFill>
          <a:ln>
            <a:solidFill>
              <a:srgbClr val="26354F"/>
            </a:solidFill>
          </a:ln>
        </p:spPr>
        <p:txBody>
          <a:bodyPr wrap="square" lIns="1270" tIns="1270" rIns="1270" bIns="1270" rtlCol="0" anchor="ctr">
            <a:normAutofit/>
          </a:bodyPr>
          <a:lstStyle/>
          <a:p>
            <a:pPr indent="0" marL="0">
              <a:buNone/>
            </a:pPr>
            <a:r>
              <a:rPr lang="en-US" sz="900" dirty="0">
                <a:solidFill>
                  <a:srgbClr val="F6F8FC"/>
                </a:solidFill>
                <a:latin typeface="Aptos" pitchFamily="34" charset="0"/>
                <a:ea typeface="Aptos" pitchFamily="34" charset="-122"/>
                <a:cs typeface="Aptos" pitchFamily="34" charset="-120"/>
              </a:rPr>
              <a:t>Use this frame to guide the video edit: slow zoom, cursor highlight, one decisive voiceover point per screen.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3" name="Text 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09</a:t>
            </a:r>
            <a:endParaRPr lang="en-US" sz="700" dirty="0"/>
          </a:p>
        </p:txBody>
      </p:sp>
      <p:sp>
        <p:nvSpPr>
          <p:cNvPr id="4" name="Text 2"/>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SHOT-BY-SHOT DIRECTION</a:t>
            </a:r>
            <a:endParaRPr lang="en-US" sz="800" dirty="0"/>
          </a:p>
        </p:txBody>
      </p:sp>
      <p:sp>
        <p:nvSpPr>
          <p:cNvPr id="5" name="Text 3"/>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How NotebookLM should build the video</a:t>
            </a:r>
            <a:endParaRPr lang="en-US" sz="2500" dirty="0"/>
          </a:p>
        </p:txBody>
      </p:sp>
      <p:sp>
        <p:nvSpPr>
          <p:cNvPr id="6" name="Text 4"/>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Use screenshot beats as visual anchors and narration as the strategic layer.</a:t>
            </a:r>
            <a:endParaRPr lang="en-US" sz="950" dirty="0"/>
          </a:p>
        </p:txBody>
      </p:sp>
      <p:sp>
        <p:nvSpPr>
          <p:cNvPr id="7" name="Text 5"/>
          <p:cNvSpPr/>
          <p:nvPr/>
        </p:nvSpPr>
        <p:spPr>
          <a:xfrm>
            <a:off x="640080" y="18745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01</a:t>
            </a:r>
            <a:endParaRPr lang="en-US" sz="800" dirty="0"/>
          </a:p>
        </p:txBody>
      </p:sp>
      <p:sp>
        <p:nvSpPr>
          <p:cNvPr id="8" name="Text 6"/>
          <p:cNvSpPr/>
          <p:nvPr/>
        </p:nvSpPr>
        <p:spPr>
          <a:xfrm>
            <a:off x="1097280" y="18745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Cold open</a:t>
            </a:r>
            <a:endParaRPr lang="en-US" sz="1300" dirty="0"/>
          </a:p>
        </p:txBody>
      </p:sp>
      <p:sp>
        <p:nvSpPr>
          <p:cNvPr id="9" name="Text 7"/>
          <p:cNvSpPr/>
          <p:nvPr/>
        </p:nvSpPr>
        <p:spPr>
          <a:xfrm>
            <a:off x="640080" y="22860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Dark product montage + line: “your creative data has been lying to you.”</a:t>
            </a:r>
            <a:endParaRPr lang="en-US" sz="850" dirty="0"/>
          </a:p>
        </p:txBody>
      </p:sp>
      <p:sp>
        <p:nvSpPr>
          <p:cNvPr id="10" name="Text 8"/>
          <p:cNvSpPr/>
          <p:nvPr/>
        </p:nvSpPr>
        <p:spPr>
          <a:xfrm>
            <a:off x="3429000" y="18745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02</a:t>
            </a:r>
            <a:endParaRPr lang="en-US" sz="800" dirty="0"/>
          </a:p>
        </p:txBody>
      </p:sp>
      <p:sp>
        <p:nvSpPr>
          <p:cNvPr id="11" name="Text 9"/>
          <p:cNvSpPr/>
          <p:nvPr/>
        </p:nvSpPr>
        <p:spPr>
          <a:xfrm>
            <a:off x="3886200" y="18745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Pain proof</a:t>
            </a:r>
            <a:endParaRPr lang="en-US" sz="1300" dirty="0"/>
          </a:p>
        </p:txBody>
      </p:sp>
      <p:sp>
        <p:nvSpPr>
          <p:cNvPr id="12" name="Text 10"/>
          <p:cNvSpPr/>
          <p:nvPr/>
        </p:nvSpPr>
        <p:spPr>
          <a:xfrm>
            <a:off x="3429000" y="22860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Zoom on scattered metrics. Explain what data cannot answer alone.</a:t>
            </a:r>
            <a:endParaRPr lang="en-US" sz="850" dirty="0"/>
          </a:p>
        </p:txBody>
      </p:sp>
      <p:sp>
        <p:nvSpPr>
          <p:cNvPr id="13" name="Text 11"/>
          <p:cNvSpPr/>
          <p:nvPr/>
        </p:nvSpPr>
        <p:spPr>
          <a:xfrm>
            <a:off x="6217920" y="18745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03</a:t>
            </a:r>
            <a:endParaRPr lang="en-US" sz="800" dirty="0"/>
          </a:p>
        </p:txBody>
      </p:sp>
      <p:sp>
        <p:nvSpPr>
          <p:cNvPr id="14" name="Text 12"/>
          <p:cNvSpPr/>
          <p:nvPr/>
        </p:nvSpPr>
        <p:spPr>
          <a:xfrm>
            <a:off x="6675120" y="18745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Product reveal</a:t>
            </a:r>
            <a:endParaRPr lang="en-US" sz="1300" dirty="0"/>
          </a:p>
        </p:txBody>
      </p:sp>
      <p:sp>
        <p:nvSpPr>
          <p:cNvPr id="15" name="Text 13"/>
          <p:cNvSpPr/>
          <p:nvPr/>
        </p:nvSpPr>
        <p:spPr>
          <a:xfrm>
            <a:off x="6217920" y="22860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Show Metrix as the intelligence layer above fragmented sources.</a:t>
            </a:r>
            <a:endParaRPr lang="en-US" sz="850" dirty="0"/>
          </a:p>
        </p:txBody>
      </p:sp>
      <p:sp>
        <p:nvSpPr>
          <p:cNvPr id="16" name="Text 14"/>
          <p:cNvSpPr/>
          <p:nvPr/>
        </p:nvSpPr>
        <p:spPr>
          <a:xfrm>
            <a:off x="9006840" y="18745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04</a:t>
            </a:r>
            <a:endParaRPr lang="en-US" sz="800" dirty="0"/>
          </a:p>
        </p:txBody>
      </p:sp>
      <p:sp>
        <p:nvSpPr>
          <p:cNvPr id="17" name="Text 15"/>
          <p:cNvSpPr/>
          <p:nvPr/>
        </p:nvSpPr>
        <p:spPr>
          <a:xfrm>
            <a:off x="9464040" y="18745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Decision layer</a:t>
            </a:r>
            <a:endParaRPr lang="en-US" sz="1300" dirty="0"/>
          </a:p>
        </p:txBody>
      </p:sp>
      <p:sp>
        <p:nvSpPr>
          <p:cNvPr id="18" name="Text 16"/>
          <p:cNvSpPr/>
          <p:nvPr/>
        </p:nvSpPr>
        <p:spPr>
          <a:xfrm>
            <a:off x="9006840" y="22860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Command Center. Show “what matters” before dense dashboards.</a:t>
            </a:r>
            <a:endParaRPr lang="en-US" sz="850" dirty="0"/>
          </a:p>
        </p:txBody>
      </p:sp>
      <p:sp>
        <p:nvSpPr>
          <p:cNvPr id="19" name="Text 17"/>
          <p:cNvSpPr/>
          <p:nvPr/>
        </p:nvSpPr>
        <p:spPr>
          <a:xfrm>
            <a:off x="640080" y="34747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05</a:t>
            </a:r>
            <a:endParaRPr lang="en-US" sz="800" dirty="0"/>
          </a:p>
        </p:txBody>
      </p:sp>
      <p:sp>
        <p:nvSpPr>
          <p:cNvPr id="20" name="Text 18"/>
          <p:cNvSpPr/>
          <p:nvPr/>
        </p:nvSpPr>
        <p:spPr>
          <a:xfrm>
            <a:off x="1097280" y="34747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Creative causality</a:t>
            </a:r>
            <a:endParaRPr lang="en-US" sz="1300" dirty="0"/>
          </a:p>
        </p:txBody>
      </p:sp>
      <p:sp>
        <p:nvSpPr>
          <p:cNvPr id="21" name="Text 19"/>
          <p:cNvSpPr/>
          <p:nvPr/>
        </p:nvSpPr>
        <p:spPr>
          <a:xfrm>
            <a:off x="640080" y="38862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Creative Signal. Explain variable stack and next creative implication.</a:t>
            </a:r>
            <a:endParaRPr lang="en-US" sz="850" dirty="0"/>
          </a:p>
        </p:txBody>
      </p:sp>
      <p:sp>
        <p:nvSpPr>
          <p:cNvPr id="22" name="Text 20"/>
          <p:cNvSpPr/>
          <p:nvPr/>
        </p:nvSpPr>
        <p:spPr>
          <a:xfrm>
            <a:off x="3429000" y="34747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06</a:t>
            </a:r>
            <a:endParaRPr lang="en-US" sz="800" dirty="0"/>
          </a:p>
        </p:txBody>
      </p:sp>
      <p:sp>
        <p:nvSpPr>
          <p:cNvPr id="23" name="Text 21"/>
          <p:cNvSpPr/>
          <p:nvPr/>
        </p:nvSpPr>
        <p:spPr>
          <a:xfrm>
            <a:off x="3886200" y="34747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Testing cadence</a:t>
            </a:r>
            <a:endParaRPr lang="en-US" sz="1300" dirty="0"/>
          </a:p>
        </p:txBody>
      </p:sp>
      <p:sp>
        <p:nvSpPr>
          <p:cNvPr id="24" name="Text 22"/>
          <p:cNvSpPr/>
          <p:nvPr/>
        </p:nvSpPr>
        <p:spPr>
          <a:xfrm>
            <a:off x="3429000" y="38862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Sprint Matrix. Translate concepts into scale/hold/kill/rebuild actions.</a:t>
            </a:r>
            <a:endParaRPr lang="en-US" sz="850" dirty="0"/>
          </a:p>
        </p:txBody>
      </p:sp>
      <p:sp>
        <p:nvSpPr>
          <p:cNvPr id="25" name="Text 23"/>
          <p:cNvSpPr/>
          <p:nvPr/>
        </p:nvSpPr>
        <p:spPr>
          <a:xfrm>
            <a:off x="6217920" y="34747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07</a:t>
            </a:r>
            <a:endParaRPr lang="en-US" sz="800" dirty="0"/>
          </a:p>
        </p:txBody>
      </p:sp>
      <p:sp>
        <p:nvSpPr>
          <p:cNvPr id="26" name="Text 24"/>
          <p:cNvSpPr/>
          <p:nvPr/>
        </p:nvSpPr>
        <p:spPr>
          <a:xfrm>
            <a:off x="6675120" y="34747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Brief output</a:t>
            </a:r>
            <a:endParaRPr lang="en-US" sz="1300" dirty="0"/>
          </a:p>
        </p:txBody>
      </p:sp>
      <p:sp>
        <p:nvSpPr>
          <p:cNvPr id="27" name="Text 25"/>
          <p:cNvSpPr/>
          <p:nvPr/>
        </p:nvSpPr>
        <p:spPr>
          <a:xfrm>
            <a:off x="6217920" y="38862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AI Brief Generator. Move from signal to production-ready tasks.</a:t>
            </a:r>
            <a:endParaRPr lang="en-US" sz="850" dirty="0"/>
          </a:p>
        </p:txBody>
      </p:sp>
      <p:sp>
        <p:nvSpPr>
          <p:cNvPr id="28" name="Text 26"/>
          <p:cNvSpPr/>
          <p:nvPr/>
        </p:nvSpPr>
        <p:spPr>
          <a:xfrm>
            <a:off x="9006840" y="3474720"/>
            <a:ext cx="347472" cy="256032"/>
          </a:xfrm>
          <a:prstGeom prst="rect">
            <a:avLst/>
          </a:prstGeom>
          <a:solidFill>
            <a:srgbClr val="101A2B"/>
          </a:solidFill>
          <a:ln>
            <a:solidFill>
              <a:srgbClr val="26354F"/>
            </a:solidFill>
          </a:ln>
        </p:spPr>
        <p:txBody>
          <a:bodyPr wrap="square" lIns="0" tIns="0" rIns="0" bIns="0" rtlCol="0" anchor="ctr"/>
          <a:lstStyle/>
          <a:p>
            <a:pPr algn="ctr" indent="0" marL="0">
              <a:buNone/>
            </a:pPr>
            <a:r>
              <a:rPr lang="en-US" sz="800" b="1" dirty="0">
                <a:solidFill>
                  <a:srgbClr val="06B6D4"/>
                </a:solidFill>
                <a:latin typeface="Aptos" pitchFamily="34" charset="0"/>
                <a:ea typeface="Aptos" pitchFamily="34" charset="-122"/>
                <a:cs typeface="Aptos" pitchFamily="34" charset="-120"/>
              </a:rPr>
              <a:t>08</a:t>
            </a:r>
            <a:endParaRPr lang="en-US" sz="800" dirty="0"/>
          </a:p>
        </p:txBody>
      </p:sp>
      <p:sp>
        <p:nvSpPr>
          <p:cNvPr id="29" name="Text 27"/>
          <p:cNvSpPr/>
          <p:nvPr/>
        </p:nvSpPr>
        <p:spPr>
          <a:xfrm>
            <a:off x="9464040" y="3474720"/>
            <a:ext cx="2148840" cy="256032"/>
          </a:xfrm>
          <a:prstGeom prst="rect">
            <a:avLst/>
          </a:prstGeom>
          <a:noFill/>
          <a:ln/>
        </p:spPr>
        <p:txBody>
          <a:bodyPr wrap="square" lIns="0" tIns="0" rIns="0" bIns="0" rtlCol="0" anchor="ctr"/>
          <a:lstStyle/>
          <a:p>
            <a:pPr indent="0" marL="0">
              <a:buNone/>
            </a:pPr>
            <a:r>
              <a:rPr lang="en-US" sz="1300" b="1" dirty="0">
                <a:solidFill>
                  <a:srgbClr val="F6F8FC"/>
                </a:solidFill>
                <a:latin typeface="Aptos Display" pitchFamily="34" charset="0"/>
                <a:ea typeface="Aptos Display" pitchFamily="34" charset="-122"/>
                <a:cs typeface="Aptos Display" pitchFamily="34" charset="-120"/>
              </a:rPr>
              <a:t>Close</a:t>
            </a:r>
            <a:endParaRPr lang="en-US" sz="1300" dirty="0"/>
          </a:p>
        </p:txBody>
      </p:sp>
      <p:sp>
        <p:nvSpPr>
          <p:cNvPr id="30" name="Text 28"/>
          <p:cNvSpPr/>
          <p:nvPr/>
        </p:nvSpPr>
        <p:spPr>
          <a:xfrm>
            <a:off x="9006840" y="3886200"/>
            <a:ext cx="2560320" cy="658368"/>
          </a:xfrm>
          <a:prstGeom prst="rect">
            <a:avLst/>
          </a:prstGeom>
          <a:noFill/>
          <a:ln/>
        </p:spPr>
        <p:txBody>
          <a:bodyPr wrap="square" lIns="381" tIns="381" rIns="381" bIns="381" rtlCol="0" anchor="ctr">
            <a:normAutofit/>
          </a:bodyPr>
          <a:lstStyle/>
          <a:p>
            <a:pPr indent="0" marL="0">
              <a:buNone/>
            </a:pPr>
            <a:r>
              <a:rPr lang="en-US" sz="850" dirty="0">
                <a:solidFill>
                  <a:srgbClr val="C7D0DD"/>
                </a:solidFill>
                <a:latin typeface="Aptos" pitchFamily="34" charset="0"/>
                <a:ea typeface="Aptos" pitchFamily="34" charset="-122"/>
                <a:cs typeface="Aptos" pitchFamily="34" charset="-120"/>
              </a:rPr>
              <a:t>Learning loop thesis + CTA for early access/walkthrough.</a:t>
            </a:r>
            <a:endParaRPr lang="en-US" sz="850" dirty="0"/>
          </a:p>
        </p:txBody>
      </p:sp>
      <p:sp>
        <p:nvSpPr>
          <p:cNvPr id="31" name="Text 29"/>
          <p:cNvSpPr/>
          <p:nvPr/>
        </p:nvSpPr>
        <p:spPr>
          <a:xfrm>
            <a:off x="658368" y="5650992"/>
            <a:ext cx="10789920" cy="320040"/>
          </a:xfrm>
          <a:prstGeom prst="rect">
            <a:avLst/>
          </a:prstGeom>
          <a:noFill/>
          <a:ln/>
        </p:spPr>
        <p:txBody>
          <a:bodyPr wrap="square" lIns="508" tIns="508" rIns="508" bIns="508" rtlCol="0" anchor="ctr">
            <a:normAutofit/>
          </a:bodyPr>
          <a:lstStyle/>
          <a:p>
            <a:pPr indent="0" marL="0">
              <a:buNone/>
            </a:pPr>
            <a:r>
              <a:rPr lang="en-US" sz="1100" b="1" dirty="0">
                <a:solidFill>
                  <a:srgbClr val="F6F8FC"/>
                </a:solidFill>
                <a:latin typeface="Aptos" pitchFamily="34" charset="0"/>
                <a:ea typeface="Aptos" pitchFamily="34" charset="-122"/>
                <a:cs typeface="Aptos" pitchFamily="34" charset="-120"/>
              </a:rPr>
              <a:t>Editing note: make every screenshot feel alive with crop zooms, callout highlights, mouse movement, and clean pauses. Do not over-animate.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812"/>
        </a:solidFill>
      </p:bgPr>
    </p:bg>
    <p:spTree>
      <p:nvGrpSpPr>
        <p:cNvPr id="1" name=""/>
        <p:cNvGrpSpPr/>
        <p:nvPr/>
      </p:nvGrpSpPr>
      <p:grpSpPr>
        <a:xfrm>
          <a:off x="0" y="0"/>
          <a:ext cx="0" cy="0"/>
          <a:chOff x="0" y="0"/>
          <a:chExt cx="0" cy="0"/>
        </a:xfrm>
      </p:grpSpPr>
      <p:sp>
        <p:nvSpPr>
          <p:cNvPr id="2" name="Text 0"/>
          <p:cNvSpPr/>
          <p:nvPr/>
        </p:nvSpPr>
        <p:spPr>
          <a:xfrm>
            <a:off x="457200" y="6473952"/>
            <a:ext cx="4572000" cy="164592"/>
          </a:xfrm>
          <a:prstGeom prst="rect">
            <a:avLst/>
          </a:prstGeom>
          <a:noFill/>
          <a:ln/>
        </p:spPr>
        <p:txBody>
          <a:bodyPr wrap="square" lIns="0" tIns="0" rIns="0" bIns="0" rtlCol="0" anchor="ctr"/>
          <a:lstStyle/>
          <a:p>
            <a:pPr indent="0" marL="0">
              <a:buNone/>
            </a:pPr>
            <a:r>
              <a:rPr lang="en-US" sz="700" b="1" dirty="0">
                <a:solidFill>
                  <a:srgbClr val="8E9AAF"/>
                </a:solidFill>
                <a:latin typeface="Aptos" pitchFamily="34" charset="0"/>
                <a:ea typeface="Aptos" pitchFamily="34" charset="-122"/>
                <a:cs typeface="Aptos" pitchFamily="34" charset="-120"/>
              </a:rPr>
              <a:t>METRIX IAP // NOTEBOOKLM SOURCE DECK</a:t>
            </a:r>
            <a:endParaRPr lang="en-US" sz="700" dirty="0"/>
          </a:p>
        </p:txBody>
      </p:sp>
      <p:sp>
        <p:nvSpPr>
          <p:cNvPr id="3" name="Text 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00" b="1" dirty="0">
                <a:solidFill>
                  <a:srgbClr val="8E9AAF"/>
                </a:solidFill>
                <a:latin typeface="Aptos" pitchFamily="34" charset="0"/>
                <a:ea typeface="Aptos" pitchFamily="34" charset="-122"/>
                <a:cs typeface="Aptos" pitchFamily="34" charset="-120"/>
              </a:rPr>
              <a:t>10</a:t>
            </a:r>
            <a:endParaRPr lang="en-US" sz="700" dirty="0"/>
          </a:p>
        </p:txBody>
      </p:sp>
      <p:sp>
        <p:nvSpPr>
          <p:cNvPr id="4" name="Text 2"/>
          <p:cNvSpPr/>
          <p:nvPr/>
        </p:nvSpPr>
        <p:spPr>
          <a:xfrm>
            <a:off x="548640" y="438912"/>
            <a:ext cx="548640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NOTEBOOKLM INPUT PROMPT</a:t>
            </a:r>
            <a:endParaRPr lang="en-US" sz="800" dirty="0"/>
          </a:p>
        </p:txBody>
      </p:sp>
      <p:sp>
        <p:nvSpPr>
          <p:cNvPr id="5" name="Text 3"/>
          <p:cNvSpPr/>
          <p:nvPr/>
        </p:nvSpPr>
        <p:spPr>
          <a:xfrm>
            <a:off x="548640" y="713232"/>
            <a:ext cx="5669280" cy="640080"/>
          </a:xfrm>
          <a:prstGeom prst="rect">
            <a:avLst/>
          </a:prstGeom>
          <a:noFill/>
          <a:ln/>
        </p:spPr>
        <p:txBody>
          <a:bodyPr wrap="square" lIns="0" tIns="0" rIns="0" bIns="0" rtlCol="0" anchor="ctr">
            <a:normAutofit/>
          </a:bodyPr>
          <a:lstStyle/>
          <a:p>
            <a:pPr indent="0" marL="0">
              <a:buNone/>
            </a:pPr>
            <a:r>
              <a:rPr lang="en-US" sz="2500" b="1" dirty="0">
                <a:solidFill>
                  <a:srgbClr val="F6F8FC"/>
                </a:solidFill>
                <a:latin typeface="Aptos Display" pitchFamily="34" charset="0"/>
                <a:ea typeface="Aptos Display" pitchFamily="34" charset="-122"/>
                <a:cs typeface="Aptos Display" pitchFamily="34" charset="-120"/>
              </a:rPr>
              <a:t>Paste this instruction with the deck + brief</a:t>
            </a:r>
            <a:endParaRPr lang="en-US" sz="2500" dirty="0"/>
          </a:p>
        </p:txBody>
      </p:sp>
      <p:sp>
        <p:nvSpPr>
          <p:cNvPr id="6" name="Text 4"/>
          <p:cNvSpPr/>
          <p:nvPr/>
        </p:nvSpPr>
        <p:spPr>
          <a:xfrm>
            <a:off x="548640" y="1417320"/>
            <a:ext cx="6217920" cy="310896"/>
          </a:xfrm>
          <a:prstGeom prst="rect">
            <a:avLst/>
          </a:prstGeom>
          <a:noFill/>
          <a:ln/>
        </p:spPr>
        <p:txBody>
          <a:bodyPr wrap="square" lIns="0" tIns="0" rIns="0" bIns="0" rtlCol="0" anchor="ctr">
            <a:normAutofit/>
          </a:bodyPr>
          <a:lstStyle/>
          <a:p>
            <a:pPr indent="0" marL="0">
              <a:buNone/>
            </a:pPr>
            <a:r>
              <a:rPr lang="en-US" sz="950" dirty="0">
                <a:solidFill>
                  <a:srgbClr val="C7D0DD"/>
                </a:solidFill>
                <a:latin typeface="Aptos" pitchFamily="34" charset="0"/>
                <a:ea typeface="Aptos" pitchFamily="34" charset="-122"/>
                <a:cs typeface="Aptos" pitchFamily="34" charset="-120"/>
              </a:rPr>
              <a:t>Use it to force a strategic, high-conviction output rather than a generic SaaS explainer.</a:t>
            </a:r>
            <a:endParaRPr lang="en-US" sz="950" dirty="0"/>
          </a:p>
        </p:txBody>
      </p:sp>
      <p:sp>
        <p:nvSpPr>
          <p:cNvPr id="7" name="Text 5"/>
          <p:cNvSpPr/>
          <p:nvPr/>
        </p:nvSpPr>
        <p:spPr>
          <a:xfrm>
            <a:off x="749808" y="1874520"/>
            <a:ext cx="10698480" cy="1874520"/>
          </a:xfrm>
          <a:prstGeom prst="rect">
            <a:avLst/>
          </a:prstGeom>
          <a:solidFill>
            <a:srgbClr val="101A2B"/>
          </a:solidFill>
          <a:ln>
            <a:solidFill>
              <a:srgbClr val="26354F"/>
            </a:solidFill>
          </a:ln>
        </p:spPr>
        <p:txBody>
          <a:bodyPr wrap="square" lIns="2286" tIns="2286" rIns="2286" bIns="2286" rtlCol="0" anchor="ctr">
            <a:normAutofit/>
          </a:bodyPr>
          <a:lstStyle/>
          <a:p>
            <a:pPr indent="0" marL="0">
              <a:buNone/>
            </a:pPr>
            <a:r>
              <a:rPr lang="en-US" sz="1500" dirty="0">
                <a:solidFill>
                  <a:srgbClr val="F6F8FC"/>
                </a:solidFill>
                <a:latin typeface="Aptos" pitchFamily="34" charset="0"/>
                <a:ea typeface="Aptos" pitchFamily="34" charset="-122"/>
                <a:cs typeface="Aptos" pitchFamily="34" charset="-120"/>
              </a:rPr>
              <a:t>Use the attached Metrix IAP brief and screenshot deck to create an 8-10 minute YouTube video script and visual outline for experienced media buyers, strategists, and agency operators. The video should create conviction by explaining the pain of fragmented ad data, the gap between performance metrics and creative decision-making, and how Metrix turns raw data into insight, action, strategy, and creative briefs. Keep the tone direct, operator-grade, and premium. Avoid exaggerated claims. Treat screenshot metrics as example data unless marked verified. Output: script, shot list, chapters, title options, description, thumbnail concepts, and CTA options.</a:t>
            </a:r>
            <a:endParaRPr lang="en-US" sz="1500" dirty="0"/>
          </a:p>
        </p:txBody>
      </p:sp>
      <p:sp>
        <p:nvSpPr>
          <p:cNvPr id="8" name="Text 6"/>
          <p:cNvSpPr/>
          <p:nvPr/>
        </p:nvSpPr>
        <p:spPr>
          <a:xfrm>
            <a:off x="749808" y="4315968"/>
            <a:ext cx="1005840" cy="201168"/>
          </a:xfrm>
          <a:prstGeom prst="rect">
            <a:avLst/>
          </a:prstGeom>
          <a:noFill/>
          <a:ln/>
        </p:spPr>
        <p:txBody>
          <a:bodyPr wrap="square" lIns="0" tIns="0" rIns="0" bIns="0" rtlCol="0" anchor="ctr"/>
          <a:lstStyle/>
          <a:p>
            <a:pPr indent="0" marL="0">
              <a:buNone/>
            </a:pPr>
            <a:r>
              <a:rPr lang="en-US" sz="800" b="1" dirty="0">
                <a:solidFill>
                  <a:srgbClr val="06B6D4"/>
                </a:solidFill>
                <a:latin typeface="Aptos" pitchFamily="34" charset="0"/>
                <a:ea typeface="Aptos" pitchFamily="34" charset="-122"/>
                <a:cs typeface="Aptos" pitchFamily="34" charset="-120"/>
              </a:rPr>
              <a:t>Source pack</a:t>
            </a:r>
            <a:endParaRPr lang="en-US" sz="800" dirty="0"/>
          </a:p>
        </p:txBody>
      </p:sp>
      <p:sp>
        <p:nvSpPr>
          <p:cNvPr id="9" name="Text 7"/>
          <p:cNvSpPr/>
          <p:nvPr/>
        </p:nvSpPr>
        <p:spPr>
          <a:xfrm>
            <a:off x="749808" y="4645152"/>
            <a:ext cx="3657600" cy="914400"/>
          </a:xfrm>
          <a:prstGeom prst="rect">
            <a:avLst/>
          </a:prstGeom>
          <a:noFill/>
          <a:ln/>
        </p:spPr>
        <p:txBody>
          <a:bodyPr wrap="square" lIns="0" tIns="0" rIns="0" bIns="0" rtlCol="0" anchor="ctr">
            <a:normAutofit/>
          </a:bodyPr>
          <a:lstStyle/>
          <a:p>
            <a:pPr indent="0" marL="0">
              <a:buNone/>
            </a:pPr>
            <a:r>
              <a:rPr lang="en-US" sz="1100" dirty="0">
                <a:solidFill>
                  <a:srgbClr val="C7D0DD"/>
                </a:solidFill>
                <a:latin typeface="Aptos" pitchFamily="34" charset="0"/>
                <a:ea typeface="Aptos" pitchFamily="34" charset="-122"/>
                <a:cs typeface="Aptos" pitchFamily="34" charset="-120"/>
              </a:rPr>
              <a:t>1. Brief DOCX/PDF</a:t>
            </a:r>
            <a:endParaRPr lang="en-US" sz="1100" dirty="0"/>
          </a:p>
          <a:p>
            <a:pPr indent="0" marL="0">
              <a:buNone/>
            </a:pPr>
            <a:r>
              <a:rPr lang="en-US" sz="1100" dirty="0">
                <a:solidFill>
                  <a:srgbClr val="C7D0DD"/>
                </a:solidFill>
                <a:latin typeface="Aptos" pitchFamily="34" charset="0"/>
                <a:ea typeface="Aptos" pitchFamily="34" charset="-122"/>
                <a:cs typeface="Aptos" pitchFamily="34" charset="-120"/>
              </a:rPr>
              <a:t>2. Screenshot reference deck</a:t>
            </a:r>
            <a:endParaRPr lang="en-US" sz="1100" dirty="0"/>
          </a:p>
          <a:p>
            <a:pPr indent="0" marL="0">
              <a:buNone/>
            </a:pPr>
            <a:r>
              <a:rPr lang="en-US" sz="1100" dirty="0">
                <a:solidFill>
                  <a:srgbClr val="C7D0DD"/>
                </a:solidFill>
                <a:latin typeface="Aptos" pitchFamily="34" charset="0"/>
                <a:ea typeface="Aptos" pitchFamily="34" charset="-122"/>
                <a:cs typeface="Aptos" pitchFamily="34" charset="-120"/>
              </a:rPr>
              <a:t>3. Any real product screenshots</a:t>
            </a:r>
            <a:endParaRPr lang="en-US" sz="1100" dirty="0"/>
          </a:p>
          <a:p>
            <a:pPr indent="0" marL="0">
              <a:buNone/>
            </a:pPr>
            <a:r>
              <a:rPr lang="en-US" sz="1100" dirty="0">
                <a:solidFill>
                  <a:srgbClr val="C7D0DD"/>
                </a:solidFill>
                <a:latin typeface="Aptos" pitchFamily="34" charset="0"/>
                <a:ea typeface="Aptos" pitchFamily="34" charset="-122"/>
                <a:cs typeface="Aptos" pitchFamily="34" charset="-120"/>
              </a:rPr>
              <a:t>4. Verified case data or metrics</a:t>
            </a:r>
            <a:endParaRPr lang="en-US" sz="1100" dirty="0"/>
          </a:p>
          <a:p>
            <a:pPr indent="0" marL="0">
              <a:buNone/>
            </a:pPr>
            <a:r>
              <a:rPr lang="en-US" sz="1100" dirty="0">
                <a:solidFill>
                  <a:srgbClr val="C7D0DD"/>
                </a:solidFill>
                <a:latin typeface="Aptos" pitchFamily="34" charset="0"/>
                <a:ea typeface="Aptos" pitchFamily="34" charset="-122"/>
                <a:cs typeface="Aptos" pitchFamily="34" charset="-120"/>
              </a:rPr>
              <a:t>5. Brand/logo assets</a:t>
            </a:r>
            <a:endParaRPr lang="en-US" sz="1100" dirty="0"/>
          </a:p>
        </p:txBody>
      </p:sp>
      <p:sp>
        <p:nvSpPr>
          <p:cNvPr id="10" name="Text 8"/>
          <p:cNvSpPr/>
          <p:nvPr/>
        </p:nvSpPr>
        <p:spPr>
          <a:xfrm>
            <a:off x="5577840" y="4315968"/>
            <a:ext cx="1005840" cy="201168"/>
          </a:xfrm>
          <a:prstGeom prst="rect">
            <a:avLst/>
          </a:prstGeom>
          <a:noFill/>
          <a:ln/>
        </p:spPr>
        <p:txBody>
          <a:bodyPr wrap="square" lIns="0" tIns="0" rIns="0" bIns="0" rtlCol="0" anchor="ctr"/>
          <a:lstStyle/>
          <a:p>
            <a:pPr indent="0" marL="0">
              <a:buNone/>
            </a:pPr>
            <a:r>
              <a:rPr lang="en-US" sz="800" b="1" dirty="0">
                <a:solidFill>
                  <a:srgbClr val="FFBD59"/>
                </a:solidFill>
                <a:latin typeface="Aptos" pitchFamily="34" charset="0"/>
                <a:ea typeface="Aptos" pitchFamily="34" charset="-122"/>
                <a:cs typeface="Aptos" pitchFamily="34" charset="-120"/>
              </a:rPr>
              <a:t>Guardrails</a:t>
            </a:r>
            <a:endParaRPr lang="en-US" sz="800" dirty="0"/>
          </a:p>
        </p:txBody>
      </p:sp>
      <p:sp>
        <p:nvSpPr>
          <p:cNvPr id="11" name="Text 9"/>
          <p:cNvSpPr/>
          <p:nvPr/>
        </p:nvSpPr>
        <p:spPr>
          <a:xfrm>
            <a:off x="5577840" y="4645152"/>
            <a:ext cx="5212080" cy="868680"/>
          </a:xfrm>
          <a:prstGeom prst="rect">
            <a:avLst/>
          </a:prstGeom>
          <a:noFill/>
          <a:ln/>
        </p:spPr>
        <p:txBody>
          <a:bodyPr wrap="square" lIns="0" tIns="0" rIns="0" bIns="0" rtlCol="0" anchor="ctr">
            <a:normAutofit/>
          </a:bodyPr>
          <a:lstStyle/>
          <a:p>
            <a:pPr indent="0" marL="0">
              <a:buNone/>
            </a:pPr>
            <a:r>
              <a:rPr lang="en-US" sz="1100" dirty="0">
                <a:solidFill>
                  <a:srgbClr val="C7D0DD"/>
                </a:solidFill>
                <a:latin typeface="Aptos" pitchFamily="34" charset="0"/>
                <a:ea typeface="Aptos" pitchFamily="34" charset="-122"/>
                <a:cs typeface="Aptos" pitchFamily="34" charset="-120"/>
              </a:rPr>
              <a:t>Do not call Metrix a reporting dashboard. Do not imply automatic gains without verified proof. Do not make it beginner-level Meta Ads education. The strongest frame is creative intelligence as a decision operating 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Meta Marketing / Metrix 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Metrix IAP Screenshot Reference Deck</dc:title>
  <dc:subject>NotebookLM YouTube source deck for Metrix IAP</dc:subject>
  <dc:creator>OpenAI</dc:creator>
  <cp:lastModifiedBy>OpenAI</cp:lastModifiedBy>
  <cp:revision>1</cp:revision>
  <dcterms:created xsi:type="dcterms:W3CDTF">2026-06-27T07:07:59Z</dcterms:created>
  <dcterms:modified xsi:type="dcterms:W3CDTF">2026-06-27T07:07:59Z</dcterms:modified>
</cp:coreProperties>
</file>